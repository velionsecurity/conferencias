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y="6858000" cx="12188950"/>
  <p:notesSz cx="6858000" cy="9144000"/>
  <p:embeddedFontLst>
    <p:embeddedFont>
      <p:font typeface="Montserrat Light"/>
      <p:regular r:id="rId133"/>
      <p:bold r:id="rId134"/>
      <p:italic r:id="rId135"/>
      <p:boldItalic r:id="rId1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7" roundtripDataSignature="AMtx7mhZBTTGlWeTdkTxRUp4Zh/kvEJ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7" Type="http://customschemas.google.com/relationships/presentationmetadata" Target="metadata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MontserratLight-boldItalic.fntdata"/><Relationship Id="rId135" Type="http://schemas.openxmlformats.org/officeDocument/2006/relationships/font" Target="fonts/MontserratLight-italic.fntdata"/><Relationship Id="rId134" Type="http://schemas.openxmlformats.org/officeDocument/2006/relationships/font" Target="fonts/MontserratLight-bold.fntdata"/><Relationship Id="rId133" Type="http://schemas.openxmlformats.org/officeDocument/2006/relationships/font" Target="fonts/MontserratLight-regular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41c502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841c502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669b10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8669b10a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669b10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669b10a2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669b10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8669b10a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fda1cb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3fda1cb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841c502e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841c502e5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41c502e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841c502e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841c502e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841c502e5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41c502e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f841c502e5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41c502e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841c502e5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3f5f9e1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3f5f9e1d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3f5f9e1d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3f5f9e1d6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3f5f9e1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3f5f9e1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3f5f9e1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f3f5f9e1d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41c502e5_0_1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841c502e5_0_1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841c502e5_0_1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41c502e5_0_17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841c502e5_0_17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f841c502e5_0_1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841c502e5_0_1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841c502e5_0_1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41c502e5_0_1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841c502e5_0_17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f841c502e5_0_1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841c502e5_0_1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841c502e5_0_1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41c502e5_0_182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841c502e5_0_182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f841c502e5_0_1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841c502e5_0_1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841c502e5_0_1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41c502e5_0_1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f841c502e5_0_18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f841c502e5_0_18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841c502e5_0_1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f841c502e5_0_1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841c502e5_0_1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41c502e5_0_1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f841c502e5_0_19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f841c502e5_0_19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f841c502e5_0_19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f841c502e5_0_19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f841c502e5_0_19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841c502e5_0_19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841c502e5_0_19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841c502e5_0_2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f841c502e5_0_20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841c502e5_0_20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841c502e5_0_20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41c502e5_0_20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841c502e5_0_20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f841c502e5_0_20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f841c502e5_0_2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841c502e5_0_2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841c502e5_0_2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41c502e5_0_21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f841c502e5_0_2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f841c502e5_0_21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f841c502e5_0_2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841c502e5_0_2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841c502e5_0_2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41c502e5_0_2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f841c502e5_0_2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f841c502e5_0_2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841c502e5_0_2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841c502e5_0_2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41c502e5_0_229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841c502e5_0_229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f841c502e5_0_2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841c502e5_0_2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841c502e5_0_2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41c502e5_0_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f841c502e5_0_16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f841c502e5_0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841c502e5_0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841c502e5_0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gif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731520" y="146304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Mobile Hacking 101</a:t>
            </a:r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731520" y="3383280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Android · iOS · Cross-Platform</a:t>
            </a:r>
            <a:br>
              <a:rPr b="0" i="0" lang="en-US" sz="22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Fundamentos, reversing, explotación </a:t>
            </a:r>
            <a:r>
              <a:rPr lang="en-US" sz="22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and more…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OWASP Mobile Top 10 · MASVS · MASTG · MASWE · Lab práctico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41c502e5_0_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841c502e5_0_0"/>
          <p:cNvSpPr/>
          <p:nvPr/>
        </p:nvSpPr>
        <p:spPr>
          <a:xfrm>
            <a:off x="0" y="6803136"/>
            <a:ext cx="12189000" cy="549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841c502e5_0_0"/>
          <p:cNvSpPr txBox="1"/>
          <p:nvPr/>
        </p:nvSpPr>
        <p:spPr>
          <a:xfrm>
            <a:off x="1065295" y="109265"/>
            <a:ext cx="10058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//WHO I AM </a:t>
            </a:r>
            <a:endParaRPr/>
          </a:p>
        </p:txBody>
      </p:sp>
      <p:sp>
        <p:nvSpPr>
          <p:cNvPr id="171" name="Google Shape;171;g3f841c502e5_0_0"/>
          <p:cNvSpPr txBox="1"/>
          <p:nvPr/>
        </p:nvSpPr>
        <p:spPr>
          <a:xfrm>
            <a:off x="674190" y="1244081"/>
            <a:ext cx="11429400" cy="45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 speaker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Cesar Calderon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job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		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Consultor de Seguridad SR at W</a:t>
            </a:r>
            <a:r>
              <a:rPr lang="en-US" sz="2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ebsec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 </a:t>
            </a:r>
            <a:r>
              <a:rPr lang="en-US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Linkedin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</a:t>
            </a:r>
            <a:r>
              <a:rPr lang="en-US" sz="2400">
                <a:solidFill>
                  <a:srgbClr val="F5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/in/stuxnet/</a:t>
            </a:r>
            <a:endParaRPr>
              <a:solidFill>
                <a:srgbClr val="F5F7FA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beer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	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Artesanal IPA</a:t>
            </a:r>
            <a:endParaRPr b="0" i="0" sz="24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</a:t>
            </a:r>
            <a:r>
              <a:rPr lang="en-US" sz="2400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Comunity</a:t>
            </a:r>
            <a:r>
              <a:rPr lang="en-US" sz="2400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</a:t>
            </a:r>
            <a:r>
              <a:rPr lang="en-US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PaySec Latam</a:t>
            </a:r>
            <a:endParaRPr sz="24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#define</a:t>
            </a:r>
            <a:r>
              <a:rPr lang="en-US" sz="2400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Tools</a:t>
            </a:r>
            <a:r>
              <a:rPr lang="en-US" sz="2400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	</a:t>
            </a:r>
            <a:r>
              <a:rPr lang="en-US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PayGoat &amp; Slythestx</a:t>
            </a:r>
            <a:endParaRPr sz="24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using namespace</a:t>
            </a:r>
            <a:r>
              <a:rPr b="0" i="0" lang="en-US" sz="2400" u="none" cap="none" strike="noStrike">
                <a:solidFill>
                  <a:srgbClr val="BE92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FIT_2026</a:t>
            </a:r>
            <a:endParaRPr b="0" i="0" sz="24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 main(int argc, char* argv[]){</a:t>
            </a:r>
            <a:endParaRPr>
              <a:solidFill>
                <a:srgbClr val="6EE7B7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EE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>
              <a:solidFill>
                <a:srgbClr val="6EE7B7"/>
              </a:solidFill>
            </a:endParaRPr>
          </a:p>
        </p:txBody>
      </p:sp>
      <p:pic>
        <p:nvPicPr>
          <p:cNvPr id="172" name="Google Shape;172;g3f841c502e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2323" y="1734125"/>
            <a:ext cx="3469625" cy="46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4206240" y="282400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Verificación de requisitos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365760" y="2286000"/>
            <a:ext cx="3108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669b10a2_0_0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Configuración de Entorno — Root del emulador con rootAVD</a:t>
            </a:r>
            <a:endParaRPr/>
          </a:p>
        </p:txBody>
      </p:sp>
      <p:sp>
        <p:nvSpPr>
          <p:cNvPr id="185" name="Google Shape;185;g3f8669b10a2_0_0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8669b10a2_0_0"/>
          <p:cNvSpPr txBox="1"/>
          <p:nvPr/>
        </p:nvSpPr>
        <p:spPr>
          <a:xfrm>
            <a:off x="502920" y="1280160"/>
            <a:ext cx="11155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Repositorio: gitlab.com/newbit/rootAVD — script que rootea AVDs de Android Studio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Rootea el emulador sin desbloquear bootloader ni perder el sistema (instala Magisk internamente)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Requisitos previos: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AVD creado desde Android Studio y arrancado al menos una vez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adb en el PATH del sistema (platform-tools instalado)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Conexión a internet activa (el script descarga Magisk en el primer uso)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Flujo general: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Clonar el repositorio y entrar a la carpeta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Listar los AVDs disponibles para obtener la ruta correcta del ramdisk.img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Ejecutar rootAVD contra ese AVD (parchea el boot image e instala Magisk)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Reiniciar el AVD, abrir la app de Magisk y confirmar el reboot final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Verificar root vía adb shell su — el prompt cambia de $ a #</a:t>
            </a:r>
            <a:endParaRPr/>
          </a:p>
        </p:txBody>
      </p:sp>
      <p:sp>
        <p:nvSpPr>
          <p:cNvPr id="187" name="Google Shape;187;g3f8669b10a2_0_0"/>
          <p:cNvSpPr txBox="1"/>
          <p:nvPr/>
        </p:nvSpPr>
        <p:spPr>
          <a:xfrm>
            <a:off x="11640312" y="653796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669b10a2_0_7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rootAVD — Comandos paso a paso</a:t>
            </a:r>
            <a:endParaRPr/>
          </a:p>
        </p:txBody>
      </p:sp>
      <p:sp>
        <p:nvSpPr>
          <p:cNvPr id="193" name="Google Shape;193;g3f8669b10a2_0_7"/>
          <p:cNvSpPr/>
          <p:nvPr/>
        </p:nvSpPr>
        <p:spPr>
          <a:xfrm>
            <a:off x="0" y="1143000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8669b10a2_0_7"/>
          <p:cNvSpPr/>
          <p:nvPr/>
        </p:nvSpPr>
        <p:spPr>
          <a:xfrm>
            <a:off x="457200" y="1234440"/>
            <a:ext cx="11247000" cy="512070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8669b10a2_0_7"/>
          <p:cNvSpPr txBox="1"/>
          <p:nvPr/>
        </p:nvSpPr>
        <p:spPr>
          <a:xfrm>
            <a:off x="594360" y="1344168"/>
            <a:ext cx="109728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1. Clonar el repositorio oficial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https://gitlab.com/newbit/rootAVD.git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cd rootAVD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2. Con el AVD ya iniciado desde Android Studio, listar AVDs disponibles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(esto imprime el comando exacto a usar para cada AVD instalado)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./rootAVD.sh ListAllAVDs        # Mac/Linux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rootAVD.bat ListAllAVDs         # Windows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3. Ejecutar rootAVD apuntando al ramdisk.img del AVD deseado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(la ruta exacta la da el paso anterior, varía según API level y ABI)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./rootAVD.sh system-images/android-34/google_apis_playstore/arm64-v8a/ramdisk.img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4. Reiniciar el AVD manualmente desde Android Studio (Cold Boot recomendado)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Abrir la app "Magisk" dentro del emulador y confirmar el reboot final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5. Verificar que el root quedó activo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adb shell su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el prompt debe cambiar de "$" a "#" y aparecer el popup de Magisk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pidiendo autorizar el acceso root -&gt; Grant</a:t>
            </a:r>
            <a:endParaRPr/>
          </a:p>
        </p:txBody>
      </p:sp>
      <p:sp>
        <p:nvSpPr>
          <p:cNvPr id="196" name="Google Shape;196;g3f8669b10a2_0_7"/>
          <p:cNvSpPr txBox="1"/>
          <p:nvPr/>
        </p:nvSpPr>
        <p:spPr>
          <a:xfrm>
            <a:off x="11640312" y="653796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669b10a2_0_15"/>
          <p:cNvSpPr txBox="1"/>
          <p:nvPr/>
        </p:nvSpPr>
        <p:spPr>
          <a:xfrm>
            <a:off x="457200" y="256032"/>
            <a:ext cx="1124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Configuración de Entorno — Verificación del repositorio fit2026 (Velion Security)</a:t>
            </a:r>
            <a:endParaRPr/>
          </a:p>
        </p:txBody>
      </p:sp>
      <p:sp>
        <p:nvSpPr>
          <p:cNvPr id="202" name="Google Shape;202;g3f8669b10a2_0_15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8669b10a2_0_15"/>
          <p:cNvSpPr txBox="1"/>
          <p:nvPr/>
        </p:nvSpPr>
        <p:spPr>
          <a:xfrm>
            <a:off x="502920" y="1280160"/>
            <a:ext cx="111558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Antes de iniciar el lab práctico, cada estudiante debe confirmar que clonó el repositorio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fit2026 (material y apps vulnerables de Velion Security) en su máquina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Qué verificar: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Que la carpeta del repositorio exista en la ruta esperada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Que sea un repositorio git válido (no un .zip descomprimido a mano)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Que esté en la rama y commit más reciente antes de la clase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Si falta o está desactualizado: clonar o actualizar antes de continuar</a:t>
            </a:r>
            <a:endParaRPr sz="1700">
              <a:solidFill>
                <a:srgbClr val="FFC1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C1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C1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C1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C1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8669b10a2_0_15"/>
          <p:cNvSpPr txBox="1"/>
          <p:nvPr/>
        </p:nvSpPr>
        <p:spPr>
          <a:xfrm>
            <a:off x="11640312" y="653796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Agenda del Curso</a:t>
            </a: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 txBox="1"/>
          <p:nvPr/>
        </p:nvSpPr>
        <p:spPr>
          <a:xfrm>
            <a:off x="502920" y="1280160"/>
            <a:ext cx="11155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Módulo 00 · Verificación de requisitos</a:t>
            </a:r>
            <a:endParaRPr b="0" i="0" sz="1700" u="none" cap="none" strike="noStrike">
              <a:solidFill>
                <a:srgbClr val="F5F7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Módulo 01 · Android SO y arquitectura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02 · iOS SO y arquitectura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03 · Estructura de aplicaciones Android / iOS / Cross-Platform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04 · Entorno de pentesting y herramientas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05 · OWASP Mobile Top 10 (2024)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06 · Protecciones y Mitigaciones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07 · MASVS — Mobile Application Security Verification Standard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08 · MASTG — Mobile Application Security Testing Guide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09 · MASWE — Mobile Application Security Weakness Enumeration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10 · Lab práctico: Velion Pay Lab (DVMA)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Módulo 11 · Frida — Instrumentación Dinámica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3fda1cb53_0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3fda1cb53_0_0"/>
          <p:cNvSpPr txBox="1"/>
          <p:nvPr/>
        </p:nvSpPr>
        <p:spPr>
          <a:xfrm>
            <a:off x="4206240" y="282400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Agenda del Curso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4219565" y="274320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Android — Sistema Operativo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Historia y contexto de Android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2003 — Android Inc. fundada por Andy Rubin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2005 — Google adquiere Android Inc.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2008 — Android 1.0 en el HTC Dream (T-Mobile G1)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2010 → hoy — +3 billion dispositivos activos en el mundo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Kernel Linux + Apache 2.0 + licencias propietarias Google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Fragmentación: &gt;24,000 modelos distintos con Android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Relevancia en seguridad: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Plataforma más atacada en mobile (70 % del mercado)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Ecosistema de terceros = superficie de ataque enorme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Open source = el atacante puede leer el mismo código que el desarrollador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Arquitectura de Android — Visión general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Stack de capas (de abajo a arriba):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Linux Kernel — drivers, gestión de memoria, procesos, IPC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Hardware Abstraction Layer (HAL) — interfaz estándar para hardware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 Runtime (ART) — ejecución de bytecode DEX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Librerías nativas — OpenGL, SQLite, libc, WebKit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 Framework — APIs Java para apps: Activity, Service, etc.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Aplicaciones del sistema — Phone, Settings, Launcher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Aplicaciones de usuario — las que instalamos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Cada capa se comunica con la inmediata inferior mediante APIs definidas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La separación en capas es el primer mecanismo de seguridad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Linux Kernel — Base de Android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Android usa un kernel Linux modificado (Android Common Kernel)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Características clave heredadas de Linux: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Gestión de procesos — cada app corre en su propio proceso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Sistema de archivos — ext4, F2FS, EROFS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Red — TCP/IP stack completo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Seguridad — DAC (UID/GID), SELinux (MAC)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Diferencias con Linux estándar: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Binder IPC en lugar de pipes/sockets para IPC rápido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ashmem — memoria compartida anónima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wakelocks — control de energía para móvil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Cada app Android recibe un UID único en instalación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UID separa app de app — sandboxing a nivel kernel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Runtime (ART) y Dalvik</a:t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Dalvik (antes de Android 5.0 Lollipop):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Máquina virtual basada en registros (vs stack JVM)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Compilación JIT (Just-In-Time) en tiempo de ejecución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Formato .dex (Dalvik Executable)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ART (Android Runtime — Android 5.0+):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Reemplaza Dalvik completamente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AOT (Ahead-Of-Time) — compila al instalar la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Profile-guided JIT/AOT compilation (Android 7+)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Mejor rendimiento, mayor consumo de disco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Implicación para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jadx y apktool descompilan el DEX a Java/smali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código fuente original es recuperable con alta fidelidad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Modelo de seguridad Android — Sandboxing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Principio de mínimo privilegio aplicado a nivel 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Cada app tiene su propio proceso (UID único)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Directorio privado: /data/data/&lt;package&gt;/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Otras apps NO pueden leer/escribir ese directorio sin permiso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Separación por UID — el kernel lo enforce, no la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SELinux (Security-Enhanced Linux):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Políticas MAC que restringen acceso a recursos del sistema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enforcing mode desde Android 5.0 en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Excepciones al sandbox: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Content Providers con exported=true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Activities/Services/BroadcastReceivers exported=true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SharedStorage (external storage) accesible por múltiples apps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Permisos en Android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Definidos en AndroidManifest.xml con &lt;uses-permission&gt;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Niveles de protección: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normal — se otorgan automáticamente al instalar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dangerous — requieren aprobación explícita del usuario (runtime)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signature — solo apps firmadas con mismo certificado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signatureOrSystem — signature + apps de sistema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Runtime permissions (API 23+):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CAMERA, LOCATION, CONTACTS, STORAGE, etc.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usuario puede revocarlas en cualquier momento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Modelo de grupos: otorgar uno = otorgar todo el grupo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Custom permissions — apps pueden definir las suyas propias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Vectores de ataque frecuentes: permission over-privilege, intent hijacking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Componentes de una App Android</a:t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Activity — pantalla con interfaz de usuario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startActivity(intent) — lanzar otra pantalla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onResume/onPause/onStop — ciclo de vida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Service — operación en segundo plano sin UI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Foreground service (notificación visible) vs Background service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Bound service — cliente-servidor entre apps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BroadcastReceiver — escucha eventos del sistema o de otras apps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BOOT_COMPLETED, SMS_RECEIVED, CONNECTIVITY_CHANGE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exported=true lo expone a cualquier app externa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ContentProvider — acceso a datos estructurados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Basado en URIs: content://com.example.provider/table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Riesgo: SQL injection en query(), path traversal en openFile()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101 — Ejemplo de Activity básica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MainActivity.java — pantalla mínima con ciclo de vida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MainActivity extends AppCompatActivity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protected void onCreate(Bundle savedInstanceState)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super.onCreate(savedInstanceState);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setContentView(R.layout.activity_main);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protected void onResume()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super.onResume();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se ejecuta cada vez que la pantalla vuelve a primer plano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Declaración en AndroidManifest.xml: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&lt;activity android:name=".MainActivity" android:exported="true"&gt;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&lt;intent-filter&gt;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    &lt;action android:name="android.intent.action.MAIN"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    &lt;category android:name="android.intent.category.LAUNCHER"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&lt;/intent-filter&gt;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&lt;/activity&gt;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101 — Ejemplo de Service básico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SyncService.java — trabajo en segundo plano sin interfaz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SyncService extends Service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int onStartCommand(Intent intent, int flags, int startId)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trabajo en background, ej. sincronizar datos con el servidor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new Thread(() -&gt; syncData()).start();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START_STICKY;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IBinder onBind(Intent intent)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null;  // no es un bound service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Declaración en AndroidManifest.xml: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&lt;service android:name=".SyncService" android:exported="false"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exported="false" evita que otras apps lo invoquen directamente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101 — Ejemplo de BroadcastReceiver básico</a:t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BootReceiver.java — reacciona a que el dispositivo terminó de arrancar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BootReceiver extends BroadcastReceiver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onReceive(Context context, Intent intent)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(Intent.ACTION_BOOT_COMPLETED.equals(intent.getAction()))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// reprogramar alarmas, reiniciar servicios, etc.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Intent serviceIntent = new Intent(context, SyncService.class);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context.startService(serviceIntent);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Declaración en AndroidManifest.xml: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&lt;receiver android:name=".BootReceiver" android:exported="false"&gt;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&lt;intent-filter&gt;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    &lt;action android:name="android.intent.action.BOOT_COMPLETED"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&lt;/intent-filter&gt;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&lt;/receiver&gt;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101 — Ejemplo de ContentProvider (con riesgo de SQLi)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UserProvider.java — expone datos de usuarios vía content://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UserProvider extends ContentProvider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Cursor query(Uri uri, String[] projection, String selection,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String[] selectionArgs, String sortOrder)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SQLiteDatabase db = dbHelper.getReadableDatabase();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⚠ Vulnerable: concatenación directa de 'selection'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return db.rawQuery("SELECT * FROM users WHERE " + selection, null);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✓ Correcto: query parametrizada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db.query("users", projection, selection,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selectionArgs, null, null, sortOrder);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Declaración en AndroidManifest.xml: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&lt;provider android:name=".UserProvider"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android:authorities="com.velion.dvma.provider"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    android:exported="false" /&gt;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101 — Declaración de permisos en el Manifest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Permisos normales (otorgados automáticamente):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&lt;uses-permission android:name='android.permission.INTERNET'/&gt;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Permisos peligrosos (requieren aprobación del usuario en runtime):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&lt;uses-permission android:name='android.permission.CAMERA'/&gt;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&lt;uses-permission android:name='android.permission.READ_CONTACTS'/&gt;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Solicitud en runtime (API 23+):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ActivityCompat.requestPermissions(this, permissions, requestCode)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Verificar antes de usar un recurso protegido: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ContextCompat.checkSelfPermission(this, Manifest.permission.CAMERA)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Buena práctica 101: solicitar solo los permisos estrictamente necesarios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Intents — Sistema de mensajería de Android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Mecanismo de IPC de alto nivel en Android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Intent explícito — destino conocido (clase específica)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new Intent(context, TargetActivity.class)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Intent implícito — destino determinado por el sistema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new Intent(Intent.ACTION_VIEW, Uri.parse("http://..."))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sistema encuentra qué app/componente puede manejarlo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Extras — datos adicionales en el Intent (putExtra / getExtra)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Riesgos de seguridad: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Intent hijacking — app maliciosa intercepta intents implícitos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Pendingintent mal configurado — permite escalada de privilegios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Datos en extras sin validación — injection, path traversal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Deep links con parámetros controlados por atacante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Almacenamiento de datos en Android</a:t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SharedPreferences — clave/valor en XML, NO cifrado por defecto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/data/data/&lt;pkg&gt;/shared_prefs/*.xml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SQLite — base de datos relacional, sin cifrado por defecto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/data/data/&lt;pkg&gt;/databases/*.db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Internal Storage — /data/data/&lt;pkg&gt;/files/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Solo accesible para la app (en dispositivos no rooteados)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External Storage — /sdcard/ o /storage/emulated/0/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Accesible para cualquier app con READ_EXTERNAL_STORAGE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EncryptedSharedPreferences — cifrado transparente (Jetpack Security)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Room + SQLCipher — base de datos cifrada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Android Keystore — almacena claves criptográficas en hardware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Las claves no salen del Keystore (TEE/StrongBox)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— Directorios sensibles donde buscar información</a:t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/data/data/&lt;package&gt;/ — directorio privado de la app (requiere root o run-as)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shared_prefs/*.xml — credenciales, tokens, flags de sesión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databases/*.db — SQLite con datos de negocio, a veces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files/ — archivos internos de la app (cache de sesión, exports)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cache/ — datos temporales, miniaturas, respuestas de API cacheadas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no_backup/ — se excluye de adb backup pero sigue siendo legible con root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app_webview/ o cache/WebView/ — cookies e IndexedDB del WebView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/sdcard/Android/data/&lt;package&gt;/ — almacenamiento externo, sin sandbox real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Cualquier app con READ_EXTERNAL_STORAGE puede leer este directorio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/sdcard/Android/obb/&lt;package&gt;/ — assets grandes, a veces con claves embebidas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/data/system/ — configuración del sistema (solo con root)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Keystore en /data/misc/keystore/ — claves respaldadas por TEE/StrongBox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Comando para inspeccionar sin root: adb shell run-as &lt;package&gt; ls -la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 — Root Detection y protecciones</a:t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Objetivo: detectar si el dispositivo está rooteado y reaccionar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Técnicas de detección más comunes: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Buscar binarios: /system/bin/su, /system/xbin/su, /sbin/su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Verificar Build.TAGS contiene 'test-keys'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Buscar apps de gestión de root: Magisk Manager, SuperSU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Verificar propiedades del sistema: ro.debuggable=1, ro.secure=0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Intentar ejecutar 'su' y comprobar el código de salida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Detectar Xposed/LSPosed vía stack trace o clases cargadas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Librerías de protección disponibles: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RootBeer (Java/Kotlin) — librería open source más usada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Google Play Integrity API — reemplazo de SafetyNet Attestation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SafetyNet Attestation API — deprecado, migrar a Play Integrity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Buenas prácticas de protección: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Nunca confiar solo en una detección — combinar varias técnicas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Verificación server-side con Play Integrity, no solo en cliente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Reaccionar con degradación de funciones sensibles, no solo cerrar la app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4206240" y="282400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iOS — Sistema Operativo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Historia y contexto de iOS</a:t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2007 — iPhone OS 1.0 junto al primer iPhone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2008 — App Store abierta a desarrolladores externos (iOS 2.0)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2010 — Renombrado a iOS (iPad OS llegó en 2019)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Derivado de macOS (XNU kernel, Darwin, Objective-C/Swift)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Ecosistema cerrado: solo App Store + MDM (con excepciones)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Cuota de mercado: ~27 % mundial, ~55 % en USA/Europa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Relevancia en seguridad: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Mayor valor de mercado → mayor incentivo para atacar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Controles más estrictos de Apple dificultan análisis dinámico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Jailbreak requerido para pentesting profundo en físico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Datos sensibles de usuarios corporativos muy concentrados en iOS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Arquitectura de iOS — Capas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Core OS / Darwin — XNU kernel, BSD, mach, drivers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XNU = XNU is Not Unix (híbrido Mach + BSD)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Gestión de memoria, procesos, IPC (Mach ports)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Core Services — Foundation, Core Data, Core Location, iCloud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APIs Objective-C/Swift de nivel medio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Media — AVFoundation, Core Audio, Core Image, Metal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Cocoa Touch — UIKit, SwiftUI, EventKit, MessageUI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La capa de la app del desarrollador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Diferencia clave vs Android: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iOS no expone kernel Linux — usa Mach + BSD (XNU)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Sin APK/DEX — binarios Mach-O nativos (ARM64)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Sin sideload oficial — distribución solo por App Store o MDM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Modelo de seguridad iOS</a:t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Secure Boot Chain — cada etapa valida la siguiente con firma Apple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Boot ROM → LLB → iBoot → iOS kernel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Code Signing — todas las apps deben estar firmadas por Apple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Revisión manual + automatizada antes de publicar en App Store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Sandbox — cada app en su propio contenedor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Container: /var/mobile/Containers/Data/Application/&lt;UUID&gt;/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Acceso a recursos del sistema mediante entitlements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Data Execution Prevention (DEP) + ASLR + Stack Canaries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Pointer Authentication Codes (PAC) en ARMv8.3+ (iPhone XS+)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Data Protection — cifrado de archivos por clase (completo, parcial, etc.)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NSFileProtectionComplete: archivo inaccesible cuando bloqueado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Secure Enclave Processor (SEP) — procesador dedicado para claves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Permisos y Entitlements en iOS</a:t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Permisos de usuario — mostrados al usuario como alerts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Camera, Location, Contacts, Photos, Microphone, etc.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NSCameraUsageDescription — descripción obligatoria en Info.plist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Entitlements — capacidades declaradas en el perfil de provisioning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com.apple.developer.associated-domains — Universal Links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com.apple.keychain-access-groups — compartir keychain entre apps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get-task-allow — permite debugger (solo dev, NO producción)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Diferencia con Android: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Android: permiso declarado en manifest = puede solicitarlo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iOS: entitlement no aprobado por Apple = app rechazada en App Store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Aplicaciones ad-hoc / Enterprise pueden tener entitlements peligrosos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Almacenamiento en iOS</a:t>
            </a: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NSUserDefaults — equivalente a SharedPreferences, no cifrado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/Library/Preferences/&lt;bundle-id&gt;.plist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Keychain — almacenamiento cifrado de credenciales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Acceso controlado por kSecAttrAccessible* attributes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kSecAttrAccessibleAlways — accesible incluso si el dispositivo está bloqueado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kSecAttrAccessibleWhenUnlocked — recomendado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Core Data / SQLite — bases de datos locales, sin cifrado por defecto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Realm — ODM popular, también sin cifrado por defecto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Plist files — formato XML/binario, textos planos frecuentes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Vectores de ataque: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iTunes backup sin contraseña expone todo el contenedor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Logs de sistema con datos sensibles (NSLog en producción)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Pasteboard (UIPasteboard) accesible desde otras apps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Jailbreak — Concepto para pentesting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Jailbreak = escalar privilegios y eliminar restricciones de Apple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Tipos: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Tethered — requiere conectar al PC en cada reinicio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Untethered — permanente, survives reboot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Semi-untethered — necesita app para re-activar tras reinicio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Herramientas populares: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checkra1n — exploit de bootrom (A5-A11), permanente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unc0ver — userland exploit, semi-untethered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Palera1n — checkm8 para A10+, iOS 15/16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Dopamine — rootless jailbreak iOS 15-16 (sin root completo)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Cydia / Sileo — gestores de paquetes post-jailbreak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⚠ En un engagement real: usar dispositivo dedicado, NUNCA el del cliente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iOS — Directorios sensibles donde buscar información</a:t>
            </a:r>
            <a:endParaRPr/>
          </a:p>
        </p:txBody>
      </p:sp>
      <p:sp>
        <p:nvSpPr>
          <p:cNvPr id="396" name="Google Shape;396;p2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/var/mobile/Containers/Data/Application/&lt;UUID&gt;/ — contenedor de datos de la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Documents/ — archivos que el usuario puede ver/exportar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Library/Preferences/&lt;bundle-id&gt;.plist — NSUserDefaults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Library/Caches/ — cache de red, imágenes, tokens temporales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Library/Application Support/ — bases de datos Core Data/SQLite/Realm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tmp/ — archivos temporales, a veces con exports de PDF/PII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/var/mobile/Containers/Shared/AppGroup/&lt;UUID&gt;/ — datos compartidos entre extensiones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/private/var/mobile/Library/Keychains/ — keychain-2.db cifrado con clase de protección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/var/mobile/Library/SMS/sms.db — base de datos de mensajes (solo con jailbreak)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/var/mobile/Library/Cookies/ — cookies de Safari y WKWebView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/var/mobile/Media/DCIM/ — fotos, a veces con metadatos EXIF sensibles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Sin jailbreak: extraer con idevicebackup2 y desencriptar el backup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Con jailbreak: acceso directo vía SSH/scp al sistema de archivos completo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04" name="Google Shape;404;p32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Estructura de Aplicaciones</a:t>
            </a:r>
            <a:endParaRPr/>
          </a:p>
        </p:txBody>
      </p:sp>
      <p:sp>
        <p:nvSpPr>
          <p:cNvPr id="405" name="Google Shape;405;p32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Android · iOS · Cross-Platform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Anatomía de un APK (Android Package)</a:t>
            </a:r>
            <a:endParaRPr/>
          </a:p>
        </p:txBody>
      </p:sp>
      <p:sp>
        <p:nvSpPr>
          <p:cNvPr id="411" name="Google Shape;411;p3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APK es un archivo ZIP con extensión .apk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 interna: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AndroidManifest.xml — metadatos, permisos, componentes (compilado en binario)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classes.dex — bytecode DEX compilado (puede ser classes2.dex, etc.)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res/ — recursos: layouts XML, drawables, strings, colors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resources.arsc — tabla de recursos compilada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assets/ — archivos sin procesar (HTML, JS, fuentes, certificados)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lib/ — librerías nativas .so por ABI (arm64-v8a, x86_64, etc.)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META-INF/ — firma y certificados del APK (MANIFEST.MF, CERT.RSA)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Comando para inspeccionar: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-l app.apk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aapt dump badging app.apk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841c502e5_0_125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Anatomía de un AAB (Android App Bundle)</a:t>
            </a:r>
            <a:endParaRPr/>
          </a:p>
        </p:txBody>
      </p:sp>
      <p:sp>
        <p:nvSpPr>
          <p:cNvPr id="418" name="Google Shape;418;g3f841c502e5_0_125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41c502e5_0_125"/>
          <p:cNvSpPr txBox="1"/>
          <p:nvPr/>
        </p:nvSpPr>
        <p:spPr>
          <a:xfrm>
            <a:off x="502920" y="1280160"/>
            <a:ext cx="111558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Formato de publicación en Google Play desde 2021 (reemplaza al APK como formato de subida)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Un .aab es un archivo ZIP, pero NO se instala directamente en un dispositivo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 interna: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 — módulo base con el código y recursos principales de la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base/manifest/AndroidManifest.xml — manifest en formato protobuf (no binario XML clásico)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base/dex/classes.dex — bytecode del módulo base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base/res/ y base/resources.pb — recursos y tabla de recursos en protobuf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base/lib/ — librerías nativas .so por ABI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base/assets/ — assets del módulo base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&lt;feature&gt;/ — módulos dinámicos opcionales (Dynamic Feature Modules)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BUNDLE-METADATA/ — metadata de bundletool, no llega al dispositivo final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Google Play genera APKs optimizados (Split APKs) por dispositivo desde este AAB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Comando para inspeccionar: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bundletool dump manifest --bundle=app.aab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-l app.aab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841c502e5_0_132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De AAB a APK — bundletool y Split APKs</a:t>
            </a:r>
            <a:endParaRPr/>
          </a:p>
        </p:txBody>
      </p:sp>
      <p:sp>
        <p:nvSpPr>
          <p:cNvPr id="425" name="Google Shape;425;g3f841c502e5_0_132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841c502e5_0_132"/>
          <p:cNvSpPr txBox="1"/>
          <p:nvPr/>
        </p:nvSpPr>
        <p:spPr>
          <a:xfrm>
            <a:off x="502920" y="1280160"/>
            <a:ext cx="111558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Google Play NUNCA distribuye el .aab directamente al usuario final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bundletool convierte el AAB en un conjunto de Split APKs específicos por dispositivo: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base-master.apk — código y recursos comunes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base-&lt;density&gt;.apk — recursos según densidad de pantalla (hdpi, xxhdpi...)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base-&lt;abi&gt;.apk — librerías nativas según arquitectura del dispositivo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base-&lt;language&gt;.apk — recursos de idioma específicos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config.&lt;feature&gt;.apk — módulos dinámicos si el dispositivo los solicita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El dispositivo instala TODOS los splits necesarios juntos como una sola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Generar e instalar Split APKs para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bundletool build-apks --bundle=app.aab --output=app.apks --mode=universal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bundletool install-apks --apks=app.apks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El modo --mode=universal genera un solo APK grande, fácil de analizar con jadx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841c502e5_0_139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Anatomía de un APKS (Split APK Set)</a:t>
            </a:r>
            <a:endParaRPr/>
          </a:p>
        </p:txBody>
      </p:sp>
      <p:sp>
        <p:nvSpPr>
          <p:cNvPr id="432" name="Google Shape;432;g3f841c502e5_0_139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41c502e5_0_139"/>
          <p:cNvSpPr txBox="1"/>
          <p:nvPr/>
        </p:nvSpPr>
        <p:spPr>
          <a:xfrm>
            <a:off x="502920" y="1280160"/>
            <a:ext cx="111558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.apks es el archivo que genera bundletool a partir de un AAB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También es un ZIP, pero contiene VARIOS APKs en su interior, no una app instalable directa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 interna: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splits/base-master.apk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splits/base-&lt;density&gt;.apk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splits/base-&lt;abi&gt;.apk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toc.pb — tabla de contenidos en protobuf (qué split corresponde a qué dispositivo)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BundleConfig.pb — configuración del bundle original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Para pentesting, casi siempre conviene regenerar en modo universal en vez de analizar los splits sueltos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Extraer y analizar cada split: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app.apks -d app_apks_extracted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jadx -d output_dir app_apks_extracted/splits/base-master.apk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841c502e5_0_146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Anatomía de un XAPK</a:t>
            </a:r>
            <a:endParaRPr/>
          </a:p>
        </p:txBody>
      </p:sp>
      <p:sp>
        <p:nvSpPr>
          <p:cNvPr id="439" name="Google Shape;439;g3f841c502e5_0_146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841c502e5_0_146"/>
          <p:cNvSpPr txBox="1"/>
          <p:nvPr/>
        </p:nvSpPr>
        <p:spPr>
          <a:xfrm>
            <a:off x="502920" y="1280160"/>
            <a:ext cx="111558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Formato NO oficial de Google — creado por tiendas de terceros (APKPure y similares)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Empaqueta varios APKs + datos OBB + metadata en un solo archivo distribuible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.xapk es un ZIP renombrado — se puede abrir con cualquier descompresor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 interna típica: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manifest.json — metadata: package name, versión, permisos, splits incluidos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icon.png — ícono de la app mostrado en la tienda de terceros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&lt;package&gt;.apk — APK base de la aplicación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config.&lt;abi&gt;.apk / config.&lt;density&gt;.apk — splits equivalentes a los de un AAB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Android/obb/&lt;package&gt;/*.obb — datos grandes (usado sobre todo en juegos)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Riesgo de seguridad relevante para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XAPKs de fuentes no oficiales pueden venir repackeados con código malicioso añadido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Comando para inspeccionar: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-l app.xapk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cat manifest.json | jq 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41c502e5_0_153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AAB vs APKS vs XAPK vs APK — comparación para pentesting</a:t>
            </a:r>
            <a:endParaRPr/>
          </a:p>
        </p:txBody>
      </p:sp>
      <p:sp>
        <p:nvSpPr>
          <p:cNvPr id="446" name="Google Shape;446;g3f841c502e5_0_153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841c502e5_0_153"/>
          <p:cNvSpPr txBox="1"/>
          <p:nvPr/>
        </p:nvSpPr>
        <p:spPr>
          <a:xfrm>
            <a:off x="502920" y="1280160"/>
            <a:ext cx="111558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APK (.apk):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Instalable directo, formato clásico, un solo archivo autocontenido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AAB (.aab):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Formato de subida a Play Store — NO instalable directo, requiere bundletool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APKS (.apks):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Contenedor de Split APKs generado por bundletool a partir de un AAB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Se recomienda regenerar en modo universal para analizarlo como un APK normal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XAPK (.xapk):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Formato no oficial de tiendas de terceros — mayor riesgo de repackaging malicioso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Recomendación práctica para el análisis: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Siempre que sea posible, extraer/generar un único .apk universal antes de decompilar con jadx/apktool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Verificar la firma (apksigner verify) sin importar el formato de origen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AndroidManifest.xml — Elementos clave para pentesting</a:t>
            </a:r>
            <a:endParaRPr/>
          </a:p>
        </p:txBody>
      </p:sp>
      <p:sp>
        <p:nvSpPr>
          <p:cNvPr id="453" name="Google Shape;453;p3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457200" y="1234440"/>
            <a:ext cx="11247120" cy="457200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594360" y="1344168"/>
            <a:ext cx="10972800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&lt;!-- Atributos de &lt;application&gt; que importan --&gt;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android:debuggable="true"           ← NUNCA en producción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android:allowBackup="true"          ← Android Backup expone SharedPrefs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android:usesCleartextTraffic="true" ← HTTP permitido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android:networkSecurityConfig="..." ← política de red personalizada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&lt;!-- Componente exportado sin protección --&gt;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&lt;activity android:name=".AdminPanel"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android:exported="true"/&gt;  ← cualquier app puede abrirlo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&lt;!-- Deep link sin validación de host --&gt;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&lt;intent-filter android:autoVerify="false"&gt;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&lt;data android:scheme="myapp" android:host="*"/&gt;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&lt;/intent-filter&gt;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&lt;!-- Permiso personalizado débil --&gt;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&lt;permission android:name="com.example.READ_DATA"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android:protectionLevel="normal"/&gt;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50292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⚠  exported=true + sin permiso = componente accesible desde cualquier app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Firma y certificados de APK</a:t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APK Signature Scheme v1 (JAR signing) — MD5/SHA1, vulnerable a ataques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APK Signature Scheme v2 (Android 7+) — firma del APK completo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APK Signature Scheme v3/v4 (Android 9+/11+) — key rotation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La firma identifica al desarrollador pero NO garantiza seguridad del código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Comandos útiles: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apksigner verify --verbose app.apk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keytool -printcert -jarfile app.apk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openssl pkcs7 -inform DER -print_certs -in META-INF/CERT.RSA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Ataques relacionados: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Repackaging — modificar el APK y re-firmarlo con certificado propio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Janus vulnerability (v1) — prefijar DEX malicioso al 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Certificados de debug en producción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Anatomía de un IPA (iOS App Archive)</a:t>
            </a:r>
            <a:endParaRPr/>
          </a:p>
        </p:txBody>
      </p:sp>
      <p:sp>
        <p:nvSpPr>
          <p:cNvPr id="469" name="Google Shape;469;p3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IPA es también un archivo ZIP con extensión .ipa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 interna: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Payload/&lt;AppName&gt;.app/ — el bundle de la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&lt;AppName&gt; — binario Mach-O compilado para ARM64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Info.plist — metadatos: bundle ID, version, permisos, URL schemes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embedded.mobileprovision — perfil de provisioning firmado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_CodeSignature/CodeResources — firma de cada archivo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Assets.car — recursos compilados (imágenes, etc.)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Frameworks/ — librerías dinámicas .dylib / .framework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  PlugIns/ — extensiones (app extensions, watch app, etc.)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Herramientas para analizar: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app.ipa &amp;&amp; cd Payload/*.app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otool -L AppName   # dependencias dinámicas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nm AppName         # símbolos del binario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Info.plist — Metadatos críticos en iOS</a:t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CFBundleIdentifier — bundle ID único (com.company.app)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CFBundleURLTypes — URL schemes registrados (deep links)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NSAppTransportSecurity — política de seguridad de red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NSAllowsArbitraryLoads: true  ← bypass de ATS completo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NSExceptionDomains: {} ← excepciones por dominio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NSFaceIDUsageDescription — descripción del uso de Face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UIBackgroundModes — modos de ejecución en background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Qué buscar en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NSAllowsArbitraryLoads: true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Hardcoded API keys, tokens, URLs de staging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URL schemes con host wildcard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Permisos solicitados que no se usan (over-privilege)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Apps Cross-Platform — Panorama general</a:t>
            </a:r>
            <a:endParaRPr/>
          </a:p>
        </p:txBody>
      </p:sp>
      <p:sp>
        <p:nvSpPr>
          <p:cNvPr id="483" name="Google Shape;483;p3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solo código fuente compilado/empaquetado para Android + iOS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Tecnologías cubiertas en este módulo (ninguna se queda fuera):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React Native / Expo, Flutter, Xamarin/.NET MAUI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Ionic/Cordova, Capacitor, NativeScript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Kotlin Multiplatform (KMP), Unity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Por qué importa en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código de lógica de negocio suele ser más fácil de extraer que en nativo puro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Cada framework tiene su propio mecanismo de almacenamiento local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Cada framework necesita su propia librería de root/jailbreak detection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OS subyacente (Android/iOS) sigue aplicando su sandbox normalmente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React Native / Expo — Arquitectura y almacenamiento</a:t>
            </a:r>
            <a:endParaRPr/>
          </a:p>
        </p:txBody>
      </p:sp>
      <p:sp>
        <p:nvSpPr>
          <p:cNvPr id="490" name="Google Shape;490;p3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9"/>
          <p:cNvSpPr txBox="1"/>
          <p:nvPr/>
        </p:nvSpPr>
        <p:spPr>
          <a:xfrm>
            <a:off x="502922" y="1280150"/>
            <a:ext cx="47268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JavaScript + React, ejecutado sobre el motor Hermes/JSC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Bridge nativo asíncrono (legacy) o JSI — comunicación directa (nuevo)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bundle JS se empaqueta dentro del APK/IPA (assets/index.android.bundle)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El bundle JS completo es legible con jstool / strings — código fuente casi intacto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AsyncStorage — texto plano en SQLite (Android) o archivo plist (iOS)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Metro bundler source maps a veces quedan incluidos en producción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roduction-to-react-native-8-638" id="492" name="Google Shape;492;p39"/>
          <p:cNvPicPr preferRelativeResize="0"/>
          <p:nvPr/>
        </p:nvPicPr>
        <p:blipFill rotWithShape="1">
          <a:blip r:embed="rId3">
            <a:alphaModFix/>
          </a:blip>
          <a:srcRect b="0" l="4652" r="9518" t="0"/>
          <a:stretch/>
        </p:blipFill>
        <p:spPr>
          <a:xfrm>
            <a:off x="5432934" y="1408269"/>
            <a:ext cx="6664567" cy="436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3f5f9e1d6_0_5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React Native </a:t>
            </a:r>
            <a:r>
              <a:rPr b="1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- Optimización</a:t>
            </a:r>
            <a:endParaRPr/>
          </a:p>
        </p:txBody>
      </p:sp>
      <p:sp>
        <p:nvSpPr>
          <p:cNvPr id="498" name="Google Shape;498;g3f3f5f9e1d6_0_5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mes: An open source JavaScript engine optimized for mobile apps, starting with React Native" id="499" name="Google Shape;499;g3f3f5f9e1d6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310" y="1835145"/>
            <a:ext cx="10820399" cy="3853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f3f5f9e1d6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05" y="99600"/>
            <a:ext cx="10013122" cy="633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f3f5f9e1d6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775" y="922364"/>
            <a:ext cx="10857422" cy="4068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3f5f9e1d6_0_19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/>
          </a:p>
        </p:txBody>
      </p:sp>
      <p:sp>
        <p:nvSpPr>
          <p:cNvPr id="507" name="Google Shape;507;g3f3f5f9e1d6_0_19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g3f3f5f9e1d6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85" y="1288346"/>
            <a:ext cx="7186282" cy="461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f3f5f9e1d6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088" y="2216308"/>
            <a:ext cx="7071972" cy="3276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3f3f5f9e1d6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5626" y="2216309"/>
            <a:ext cx="7503634" cy="401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Flutter / Dart — Arquitectura y almacenamiento</a:t>
            </a:r>
            <a:endParaRPr/>
          </a:p>
        </p:txBody>
      </p:sp>
      <p:sp>
        <p:nvSpPr>
          <p:cNvPr id="516" name="Google Shape;516;p4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0"/>
          <p:cNvSpPr txBox="1"/>
          <p:nvPr/>
        </p:nvSpPr>
        <p:spPr>
          <a:xfrm>
            <a:off x="502927" y="1280150"/>
            <a:ext cx="5206800" cy="4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Dart compilado AOT a código máquina nativo, sin bridge JS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Motor Skia / Impeller renderiza su propia UI (no usa widgets nativos)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Todo el código de la app vive en libapp.so (Android) / App.framework (iOS)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shared_preferences plugin — mismo backend que SharedPreferences/NSUserDefaults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sqflite — SQLite sin cifrar por defecto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flutter_secure_storage — usa Keystore/Keychain, opción correcta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Decompilación: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Difícil por diseño — Blutter extrae símbolos y strings de snapshots AOT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8" name="Google Shape;51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900" y="1519375"/>
            <a:ext cx="6306600" cy="45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Xamarin </a:t>
            </a:r>
            <a:r>
              <a:rPr b="1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 .NET MAUI — Arquitectura y almacenamiento</a:t>
            </a:r>
            <a:endParaRPr/>
          </a:p>
        </p:txBody>
      </p:sp>
      <p:sp>
        <p:nvSpPr>
          <p:cNvPr id="524" name="Google Shape;524;p4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1"/>
          <p:cNvSpPr txBox="1"/>
          <p:nvPr/>
        </p:nvSpPr>
        <p:spPr>
          <a:xfrm>
            <a:off x="502925" y="1280150"/>
            <a:ext cx="51663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C# compilado a IL (Intermediate Language)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iOS: AOT completo (requisito de Apple) | Android: JIT o AOT opcional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Los assemblies .dll viajan dentro del APK/IPA sin protección por defecto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</a:t>
            </a:r>
            <a:r>
              <a:rPr lang="en-US" sz="15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Archivos </a:t>
            </a: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.dll descompilables con dnSpy / ILSpy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Xamarin.Essentials Preferences — mismo backend nativo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SecureStorage de .NET MAUI — usa Keystore/Keychain correctamente</a:t>
            </a:r>
            <a:endParaRPr/>
          </a:p>
        </p:txBody>
      </p:sp>
      <p:pic>
        <p:nvPicPr>
          <p:cNvPr descr="Qué es Xamarin? - Xamarin | Microsoft Learn" id="526" name="Google Shape;5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26" y="1799688"/>
            <a:ext cx="6454800" cy="37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3f5f9e1d6_0_30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/>
          </a:p>
        </p:txBody>
      </p:sp>
      <p:sp>
        <p:nvSpPr>
          <p:cNvPr id="532" name="Google Shape;532;g3f3f5f9e1d6_0_30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g3f3f5f9e1d6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6" y="537427"/>
            <a:ext cx="5101161" cy="623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g3f3f5f9e1d6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6066" y="921052"/>
            <a:ext cx="7355284" cy="5616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Ionic / Cordova — Arquitectura y almacenamiento</a:t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2"/>
          <p:cNvSpPr txBox="1"/>
          <p:nvPr/>
        </p:nvSpPr>
        <p:spPr>
          <a:xfrm>
            <a:off x="502922" y="1280150"/>
            <a:ext cx="51525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HTML + CSS + JavaScript ejecutado dentro de un WebView completo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Plugins nativos como puente entre JS y APIs del sistema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Todo el árbol www/ queda embebido y legible en el APK/IPA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localStorage / IndexedDB del WebView — texto plano,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Código fuente completo (HTML/JS/CSS) visible al descomprimir el paquete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allowNavigation con wildcards → riesgo de open redirect en el WebView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ache Cordova &amp; Phonegap | Tecnologia &amp; Apps" id="542" name="Google Shape;54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107" y="1353064"/>
            <a:ext cx="6308405" cy="498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3f5f9e1d6_0_40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/>
          </a:p>
        </p:txBody>
      </p:sp>
      <p:sp>
        <p:nvSpPr>
          <p:cNvPr id="548" name="Google Shape;548;g3f3f5f9e1d6_0_40"/>
          <p:cNvSpPr/>
          <p:nvPr/>
        </p:nvSpPr>
        <p:spPr>
          <a:xfrm>
            <a:off x="0" y="1115568"/>
            <a:ext cx="12189000" cy="366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g3f3f5f9e1d6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492" y="1404086"/>
            <a:ext cx="7953047" cy="45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f3f5f9e1d6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9775" y="520514"/>
            <a:ext cx="5951456" cy="5495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Capacitor — Arquitectura y almacenamiento</a:t>
            </a:r>
            <a:endParaRPr/>
          </a:p>
        </p:txBody>
      </p:sp>
      <p:sp>
        <p:nvSpPr>
          <p:cNvPr id="556" name="Google Shape;556;p4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3"/>
          <p:cNvSpPr txBox="1"/>
          <p:nvPr/>
        </p:nvSpPr>
        <p:spPr>
          <a:xfrm>
            <a:off x="502920" y="1280160"/>
            <a:ext cx="111558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Sucesor moderno de Cordova (mismo equipo Ionic), WebView + plugins nativos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API de plugins más cercana a nativo, soporta Swift/Kotlin directo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Bridge JS-nativo tipado, pero el código web sigue viajando sin ofuscar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@capacitor/preferences — por defecto sin cifrar en ambas plataformas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Capacitor Storage antiguo — localStorage del WebView, texto plano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capacitor-secure-storage-plugin — usa Keystore/Keychain, opción correcta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NativeScript — Arquitectura y almacenamiento</a:t>
            </a:r>
            <a:endParaRPr/>
          </a:p>
        </p:txBody>
      </p:sp>
      <p:sp>
        <p:nvSpPr>
          <p:cNvPr id="563" name="Google Shape;563;p4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 txBox="1"/>
          <p:nvPr/>
        </p:nvSpPr>
        <p:spPr>
          <a:xfrm>
            <a:off x="502920" y="1280160"/>
            <a:ext cx="111558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JavaScript/TypeScript o Angular/Vue con acceso directo a APIs nativas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Sin WebView — renderiza con widgets nativos reales (a diferencia de Cordova)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runtime expone objetos Java/Objective-C directamente al JS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application-settings module — SharedPreferences/NSUserDefaults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nativescript-sqlite — sin cifrado por defecto igual que SQLite nativo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nativescript-secure-storage — envoltorio de Keystore/Keychain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Kotlin Multiplatform (KMP) — Arquitectura y almacenamiento</a:t>
            </a:r>
            <a:endParaRPr/>
          </a:p>
        </p:txBody>
      </p:sp>
      <p:sp>
        <p:nvSpPr>
          <p:cNvPr id="570" name="Google Shape;570;p4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502920" y="1280160"/>
            <a:ext cx="111558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Lógica de negocio compartida en Kotlin, UI nativa por plataforma (Compose/SwiftUI)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Compila a bytecode JVM en Android y a binario nativo (Kotlin/Native) en iOS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Menor superficie de código compartido expuesto que RN/Flutter/Ionic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multiplatform-settings library — delega a SharedPreferences/NSUserDefaults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SQLDelight — SQLite/Core Data compartido, sin cifrado por defecto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Unity — Arquitectura y almacenamiento (apps con datos sensibles)</a:t>
            </a:r>
            <a:endParaRPr/>
          </a:p>
        </p:txBody>
      </p:sp>
      <p:sp>
        <p:nvSpPr>
          <p:cNvPr id="577" name="Google Shape;577;p4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6"/>
          <p:cNvSpPr txBox="1"/>
          <p:nvPr/>
        </p:nvSpPr>
        <p:spPr>
          <a:xfrm>
            <a:off x="502920" y="1280160"/>
            <a:ext cx="111558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Arquitectura: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C# sobre motor Unity, compilado con IL2CPP a código nativo C++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Usado en apps de banca gamificada, wallets cripto y apps con IAP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Dónde vive información sensible: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PlayerPrefs — texto plano en XML (Android) o plist (iOS), NUNCA para secretos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Assets serializados (.assets) pueden contener claves de API si no se externalizan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Recibos de compra (IAP) y tokens de sesión a veces cacheados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Cross-Platform — Herramientas de reversing por framework</a:t>
            </a:r>
            <a:endParaRPr/>
          </a:p>
        </p:txBody>
      </p:sp>
      <p:sp>
        <p:nvSpPr>
          <p:cNvPr id="584" name="Google Shape;584;p4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React Native / Expo: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react-native-decompiler, hermes-dec (para bundles Hermes)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Flutter / Dart: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Blutter — extrae símbolos, clases y strings de snapshots AOT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Xamarin / .NET MAUI: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dnSpy / ILSpy — descompilan assemblies .dll a C# casi original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Ionic / Cordova / Capacitor: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+ revisión directa de www/ — código fuente sin protección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NativeScript: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unzip + revisión de app/ — bundle webpack legible con fuentes JS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Kotlin Multiplatform: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jadx para la porción Android (JVM) — la porción iOS usa herramientas nativas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Unity: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il2cppdumper — reconstruye metadatos de clases desde global-metadata.dat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Riesgos comunes a todos los frameworks cross-platform</a:t>
            </a:r>
            <a:endParaRPr/>
          </a:p>
        </p:txBody>
      </p:sp>
      <p:sp>
        <p:nvSpPr>
          <p:cNvPr id="591" name="Google Shape;591;p5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Secrets hardcoded en JS/Dart/C# más fáciles de extraer que en código nativo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Librerías de terceros no auditadas (npm, pub.dev, NuGet, CocoaPods)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Versiones desactualizadas de frameworks con CVEs públicos conocidos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WebView bridges (Cordova/Capacitor) expuestos a JavaScript malicioso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Detección de root/jailbreak ausente por defecto — hay que añadirla siempre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Almacenamiento local sin cifrar por defecto en casi todos los frameworks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Recomendación transversal: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Nunca confiar en un solo mecanismo de detección de root/jailbreak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Siempre complementar con verificación server-side (Play Integrity / App Attest)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Usar siempre el almacenamiento seguro específico del framework, nunca el plano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Detección de emuladores — complemento al root/jailbreak</a:t>
            </a:r>
            <a:endParaRPr/>
          </a:p>
        </p:txBody>
      </p:sp>
      <p:sp>
        <p:nvSpPr>
          <p:cNvPr id="598" name="Google Shape;598;p4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Por qué es necesario además de detectar root/jailbreak: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atacante puede analizar la app en un emulador sin rootear el dispositivo real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Señales típicas de emulador en Android: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Build.FINGERPRINT contiene 'generic' o 'sdk'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Build.MANUFACTURER == 'Genymotion' o 'unknown'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Sensores ausentes o con valores fijos (acelerómetro, giroscopio)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Señales típicas de simulador en iOS: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TARGET_OS_SIMULATOR definido en tiempo de compilación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Ausencia de hardware real (no hay Secure Enclave en el Simulator)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Librerías que combinan root/jailbreak + emulador + hooking: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RootBeer, safe_device, freeRASP y IOSSecuritySuite ya incluyen estos checks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1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4218590" y="274320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Entorno y Herramientas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Configuración del entorno de pruebas</a:t>
            </a:r>
            <a:endParaRPr/>
          </a:p>
        </p:txBody>
      </p:sp>
      <p:sp>
        <p:nvSpPr>
          <p:cNvPr id="612" name="Google Shape;612;p52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2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Opción A — Emulador Android (recomendado para principiantes):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 Studio → AVD Manager → API 30+ con Play Store desactivado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Permite root con `adb root` en builds AOSP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Opción B — Dispositivo físico Android (rooteado):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Magisk para root sin trip de knox en la mayoría de dispositivos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LSPosed framework para hooks sin Frida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Opción C — Emulador iOS: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Simulator de Xcode (sin acceso al sistema de archivos real)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Corellium (plataforma de pago, ARM real virtualizado)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Opción D — Dispositivo iOS con jailbreak: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checkra1n (A10 y anteriores, iOS 14-) o palera1n (iOS 15/16)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Instalar OpenSSH + Frida server desde Sileo/Cydia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ADB — Android Debug Bridge</a:t>
            </a:r>
            <a:endParaRPr/>
          </a:p>
        </p:txBody>
      </p:sp>
      <p:sp>
        <p:nvSpPr>
          <p:cNvPr id="619" name="Google Shape;619;p5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Herramienta de comunicación con dispositivos/emuladores Android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devices — listar dispositivos conectados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install app.apk — instalar 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— shell interactivo en el dispositivo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pull / adb push — copiar archivos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logcat — ver logs en tiempo real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am start — lanzar Activities/Intents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pm — gestión de paquetes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forward tcp:8080 tcp:8080 — redirigir puertos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run-as com.pkg — acceder como la app (sin root)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Comandos clave para pentesting: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am start -n pkg/.Activity --es key value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am start -a VIEW -d 'scheme://host?param=val'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jadx — Decompilador de APK a Java</a:t>
            </a:r>
            <a:endParaRPr/>
          </a:p>
        </p:txBody>
      </p:sp>
      <p:sp>
        <p:nvSpPr>
          <p:cNvPr id="626" name="Google Shape;626;p5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4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4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Instalar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brew install jadx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Decompilar APK completo a directorio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jadx -d output_dir app.apk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Interfaz gráfica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jadx-gui app.apk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Buscar credenciales hardcoded en el fuente generado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grep -r "password\|secret\|apikey\|token\|key" output_dir/ -i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Buscar URLs hardcoded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grep -rE "https?://" output_dir/ | grep -v "schemas\|android"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Buscar uso de algoritmos débiles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grep -r "MD5\|DES\|ECB\|RC4\|SHA1" output_dir/ -i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Buscar logs (filtrar en producción)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grep -r "Log\.d\|Log\.i\|Log\.e\|print" output_dir/ -i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apktool — Descompilar / Recompilar APK</a:t>
            </a:r>
            <a:endParaRPr/>
          </a:p>
        </p:txBody>
      </p:sp>
      <p:sp>
        <p:nvSpPr>
          <p:cNvPr id="634" name="Google Shape;634;p5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5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Instalar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brew install apktool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Descompilar (smali + recursos)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apktool d app.apk -o app_decoded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Estructura resultante: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app_decoded/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AndroidManifest.xml   ← legible (no binario)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smali/                ← bytecode smali (assembler de Dalvik)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res/                  ← recursos XML legibles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assets/               ← assets sin modificar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Modificar y recompilar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apktool b app_decoded -o app_patched.apk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Re-firmar el APK modificado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keytool -genkey -v -keystore test.jks -alias test -keyalg RSA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apksigner sign --ks test.jks app_patched.apk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Uso común: cambiar debuggable, parchear checks, añadir logging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MobSF — Mobile Security Framework</a:t>
            </a:r>
            <a:endParaRPr/>
          </a:p>
        </p:txBody>
      </p:sp>
      <p:sp>
        <p:nvSpPr>
          <p:cNvPr id="642" name="Google Shape;642;p5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6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6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Levantar MobSF con Docker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docker pull opensecurity/mobile-security-framework-mobsf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-it -p 8000:8000 opensecurity/mobile-security-framework-mobsf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Acceder en http://localhost:8000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Subir el APK/IPA por la UI web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MobSF realiza automáticamente: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Análisis estático: permisos, componentes exportados,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hardcoded strings, vulnerabilidades conocidas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Análisis de código: grep de patrones peligrosos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Análisis de manifiesto: configuraciones inseguras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Análisis de red: dominios, certificados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VirusTotal integration (opcional)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✓ CVSS scoring por hallazgo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API REST para integración CI/CD: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curl -F 'file=@app.apk' http://localhost:8000/api/v1/upload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-H 'Authorization: &lt;token&gt;'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Objection — Pentesting mobile sin escribir código de instrumentación</a:t>
            </a:r>
            <a:endParaRPr/>
          </a:p>
        </p:txBody>
      </p:sp>
      <p:sp>
        <p:nvSpPr>
          <p:cNvPr id="650" name="Google Shape;650;p57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7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Instalar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objection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Adjuntar a app en ejecución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objection -g com.velion.dvma explore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Comandos útiles dentro de objection: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Ver SharedPreferences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 shared_preferences print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Listar archivos de la 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file ls /data/data/com.velion.dvma/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Desactivar SSL pinning (hook automático)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 sslpinning disable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Buscar secretos en memoria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memory search --string "Bearer"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memory search --string "password"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Dump de memoria de la 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memory dump all /tmp/memdump.bin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Listar actividades y llamarlas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 hooking list activities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android intent launch_activity com.velion.dvma.AdminActivity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Burp Suite — Interceptar tráfico HTTPS mobile</a:t>
            </a:r>
            <a:endParaRPr/>
          </a:p>
        </p:txBody>
      </p:sp>
      <p:sp>
        <p:nvSpPr>
          <p:cNvPr id="658" name="Google Shape;658;p58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8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8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1. Configurar proxy en Burp Suite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Proxy → Options → Add → 0.0.0.0:8080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2. Configurar proxy en el emulador/dispositivo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Settings → WiFi → Proxy Manual → IP_HOST:8080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3. Instalar certificado Burp en el dispositivo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http://burpsuite/cert → Descargar cacert.der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adb push cacert.der /sdcard/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   Settings → Security → Install from storage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Para Android 7+ (user certs no confiables por defecto):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Opción A: apktool + modificar network_security_config.xml y re-sign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Opción B: Magisk module "MagiskTrustUserCerts"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Opción C: instrumentación dinámica para bypass de SSL pinning (ver módulo Frida)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Para iOS (con jailbreak):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Instalar certificado Burp en Settings → General → VPN &amp; Device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SSL Kill Switch 3 en Sileo para bypass de SSL pinning nativo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Herramientas iOS específicas</a:t>
            </a:r>
            <a:endParaRPr/>
          </a:p>
        </p:txBody>
      </p:sp>
      <p:sp>
        <p:nvSpPr>
          <p:cNvPr id="666" name="Google Shape;666;p5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Análisis estático: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class-dump — extrae headers de clases Objective-C del binario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Hopper Disassembler — decompilador/desensamblador para Mach-O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Ghidra — NSA, gratis, soporta ARM64/Mach-O con extensiones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IDA Pro — estándar industrial, costoso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Análisis dinámico: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Frida + frida-server en el jailbreak (mismo workflow que Android)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Objection — mismo comando, detecta iOS automáticamente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SSL Kill Switch 3 — tweak para deshabilitar SSL pinning a nivel 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Passionfruit — GUI web para explorar app iOS en vivo (sobre Frida)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Backup y extracción: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idevicebackup2 — extraer backup por cable (libimobiledevice)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iMazing — GUI para backup y exploración de archivos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scp root@&lt;device&gt;:/var/mobile/Containers/ — con jailbreak + SSH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Drozer — Framework de auditoría Android</a:t>
            </a:r>
            <a:endParaRPr/>
          </a:p>
        </p:txBody>
      </p:sp>
      <p:sp>
        <p:nvSpPr>
          <p:cNvPr id="673" name="Google Shape;673;p6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Framework para testear seguridad de componentes Android desde el punto de vista de otra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Requiere agent APK instalado en el dispositivo objetivo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Uso básico: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drozer console connect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Enumeración de surface de ataque: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app.package.attacksurface com.velion.dvma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app.activity.info -a com.velion.dvma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app.provider.info -a com.velion.dvma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Explotación de componentes: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app.activity.start --component com.velion.dvma com.velion.dvma.AdminActivity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app.provider.query content://com.velion.dvma.provider/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app.provider.insert content://... --string col val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dz&gt; run scanner.provider.injection -a com.velion.dvma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Verificación server-side — Play Integrity API y App Attest</a:t>
            </a:r>
            <a:endParaRPr/>
          </a:p>
        </p:txBody>
      </p:sp>
      <p:sp>
        <p:nvSpPr>
          <p:cNvPr id="680" name="Google Shape;680;p6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1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Por qué la detección solo en cliente nunca es suficiente: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Cualquier check en el binario puede ser hookeado con Frida y bypasseado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Google Play Integrity API (Android):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Reemplaza a SafetyNet Attestation (deprecado desde 2024)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dispositivo solicita un token firmado por Google a nivel de hardware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backend verifica el token — reporta integridad del dispositivo y de la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Detecta: root, bootloader desbloqueado, emulador, app modificada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Apple App Attest / DeviceCheck (iOS):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App Attest genera una key pair respaldada por el Secure Enclave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servidor valida la attestation la primera vez y assertions después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DeviceCheck permite marcar un dispositivo sin identificar al usuario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Recomendación para cualquier framework (nativo o cross-platform):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Combinar SIEMPRE detección en cliente + attestation server-side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688" name="Google Shape;688;p62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OWASP Mobile Top 10</a:t>
            </a:r>
            <a:endParaRPr/>
          </a:p>
        </p:txBody>
      </p:sp>
      <p:sp>
        <p:nvSpPr>
          <p:cNvPr id="689" name="Google Shape;689;p62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2024 Edition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OWASP Mobile Top 10 — Introducción</a:t>
            </a:r>
            <a:endParaRPr/>
          </a:p>
        </p:txBody>
      </p:sp>
      <p:sp>
        <p:nvSpPr>
          <p:cNvPr id="695" name="Google Shape;695;p6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Publicado por OWASP (Open Worldwide Application Security Project)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Lista de los 10 riesgos de seguridad más críticos en apps móviles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Versión 2024 (la anterior era 2016 — actualización significativa):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M1 · Improper Credential Usage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M2 · Inadequate Supply Chain Security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M3 · Insecure Authentication / Authorization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M4 · Insufficient Input / Output Validation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M5 · Insecure Communication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M6 · Inadequate Privacy Controls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M7 · Insufficient Binary Protections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M8 · Security Misconfiguration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M9 · Insecure Data Storage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M10 · Insufficient Cryptography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M1 · Improper Credential Usage</a:t>
            </a:r>
            <a:endParaRPr/>
          </a:p>
        </p:txBody>
      </p:sp>
      <p:sp>
        <p:nvSpPr>
          <p:cNvPr id="702" name="Google Shape;702;p6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04" name="Google Shape;704;p64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05" name="Google Shape;705;p64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4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Credenciales hardcoded en el código fuente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Tokens y secretos en logs (Logcat, NSLog)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API keys en strings.xml, Info.plist, assets/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Credenciales en SharedPreferences sin cifrar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Secretos en repos públicos (GitHub)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Contraseñas en comentarios de código</a:t>
            </a:r>
            <a:endParaRPr/>
          </a:p>
        </p:txBody>
      </p:sp>
      <p:sp>
        <p:nvSpPr>
          <p:cNvPr id="707" name="Google Shape;707;p64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jadx + grep -r 'password|secret|api_key' src/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strings app.apk | grep -iE 'key|token|pass'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MobSF → sección Secrets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logcat | grep -i 'bearer|token|pin'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Revisar AndroidManifest meta-data elements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Verificar build configs (BuildConfig.java en jadx)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M2 · Inadequate Supply Chain Security</a:t>
            </a:r>
            <a:endParaRPr/>
          </a:p>
        </p:txBody>
      </p:sp>
      <p:sp>
        <p:nvSpPr>
          <p:cNvPr id="713" name="Google Shape;713;p6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15" name="Google Shape;715;p6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16" name="Google Shape;716;p65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5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Librerías de terceros sin verificar (npm, Maven, CocoaPods)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Actualizaciones de código sin verificación de firma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Plugins/extensiones instaladas por nombre (no por certificado)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Rollback a versiones anteriores sin integridad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Dependencies con CVEs conocidos no parcheadas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CDN comprometidos como fuente de módulos</a:t>
            </a:r>
            <a:endParaRPr/>
          </a:p>
        </p:txBody>
      </p:sp>
      <p:sp>
        <p:nvSpPr>
          <p:cNvPr id="718" name="Google Shape;718;p65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Revisar build.gradle / package.json / Podfile por versiones fijadas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OWASP Dependency-Check en el pipeline CI/CD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Snyk / Dependabot para alertas de CVEs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Verificar que SHA256 viene de fuente independiente al CDN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Comprobar firma de APKs de partner (apksigner verify)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Auditar código de plugins instalados</a:t>
            </a:r>
            <a:endParaRPr/>
          </a:p>
        </p:txBody>
      </p:sp>
      <p:sp>
        <p:nvSpPr>
          <p:cNvPr id="719" name="Google Shape;719;p65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M3 · Insecure Authentication / Authorization</a:t>
            </a:r>
            <a:endParaRPr/>
          </a:p>
        </p:txBody>
      </p:sp>
      <p:sp>
        <p:nvSpPr>
          <p:cNvPr id="725" name="Google Shape;725;p6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6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27" name="Google Shape;727;p66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28" name="Google Shape;728;p66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6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Controles de acceso solo en cliente (sin validación servidor)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Rol tomado de Intent extra / parámetros sin firmar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Logout solo local — token remoto sigue activo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Bypass de biometría (fallback a PIN débil)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Tokens JWT sin verificar firma (alg:none)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Rutas de admin accesibles sin autenticación</a:t>
            </a:r>
            <a:endParaRPr/>
          </a:p>
        </p:txBody>
      </p:sp>
      <p:sp>
        <p:nvSpPr>
          <p:cNvPr id="730" name="Google Shape;730;p66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-n pkg/.AdminActivity (exported=true)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... --es role ADMIN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Interceptar con Burp: ¿el servidor valida el rol?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Objection: android hooking list activities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Drozer: run app.activity.attacksurface pkg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JWT: base64 decode sin verificar firma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M4 · Insufficient Input / Output Validation</a:t>
            </a:r>
            <a:endParaRPr/>
          </a:p>
        </p:txBody>
      </p:sp>
      <p:sp>
        <p:nvSpPr>
          <p:cNvPr id="736" name="Google Shape;736;p67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7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38" name="Google Shape;738;p67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39" name="Google Shape;739;p67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7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SQL injection en ContentProvider / SQLite rawQuery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XSS en WebView que carga HTML con datos del usuario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Path traversal en nombres de archivo (Intent extras)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Open redirect (URL de deep link no validada)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JavaScript injection en WebView con JS habilitado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Intent injection / Zip Slip en archivos</a:t>
            </a:r>
            <a:endParaRPr/>
          </a:p>
        </p:txBody>
      </p:sp>
      <p:sp>
        <p:nvSpPr>
          <p:cNvPr id="741" name="Google Shape;741;p67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--es query "' OR 1=1 --"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--es name "../../etc/passwd"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-d 'scheme://host?url=file://'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am start --es query '&lt;img onerror=alert(1)&gt;'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rawQuery() con concatenación en jadx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setJavaScriptEnabled(true) en jadx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M5 · Insecure Communication</a:t>
            </a:r>
            <a:endParaRPr/>
          </a:p>
        </p:txBody>
      </p:sp>
      <p:sp>
        <p:nvSpPr>
          <p:cNvPr id="747" name="Google Shape;747;p68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8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49" name="Google Shape;749;p68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50" name="Google Shape;750;p68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8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HTTP (cleartext) para transmitir tokens/datos sensibles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TrustManager vacío — acepta cualquier certificado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HostnameVerifier que siempre devuelve true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SSL pinning ausente en apps de alto riesgo (banking)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Versiones TLS obsoletas (TLS 1.0, SSLv3)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Certificados caducados o autofirmados en producción</a:t>
            </a:r>
            <a:endParaRPr/>
          </a:p>
        </p:txBody>
      </p:sp>
      <p:sp>
        <p:nvSpPr>
          <p:cNvPr id="752" name="Google Shape;752;p68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Burp Suite / mitmproxy como proxy en el dispositivo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usesCleartextTraffic=true en AndroidManifest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NSAllowsArbitraryLoads: true en Info.plist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X509TrustManager con métodos vacíos en jadx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HostnameVerifier que devuelve true en jadx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nmap --script ssl-enum-ciphers -p 443 target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M6 · Inadequate Privacy Controls</a:t>
            </a:r>
            <a:endParaRPr/>
          </a:p>
        </p:txBody>
      </p:sp>
      <p:sp>
        <p:nvSpPr>
          <p:cNvPr id="758" name="Google Shape;758;p69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9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60" name="Google Shape;760;p69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61" name="Google Shape;761;p69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9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PII almacenada en SharedPreferences / NSUserDefaults sin cifrar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Datos sensibles en logs (email, token, saldo, IBAN)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UIPasteboard / ClipboardManager con datos financieros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Screenshots de pantallas con PII sin restricción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Análisis/tracking excesivo con SDKs de terceros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Datos biométricos o de salud mal protegidos</a:t>
            </a:r>
            <a:endParaRPr/>
          </a:p>
        </p:txBody>
      </p:sp>
      <p:sp>
        <p:nvSpPr>
          <p:cNvPr id="763" name="Google Shape;763;p69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run-as pkg cat shared_prefs/*.xml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logcat | grep -iE 'email|phone|balance|card'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Objection: android shared_preferences print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Revisar uso de ClipboardManager en jadx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screencap -p /sdcard/screen.png (revisar datos expuestos)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SDKs de analytics / tracking en gradle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M7 · Insufficient Binary Protections</a:t>
            </a:r>
            <a:endParaRPr/>
          </a:p>
        </p:txBody>
      </p:sp>
      <p:sp>
        <p:nvSpPr>
          <p:cNvPr id="769" name="Google Shape;769;p70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70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71" name="Google Shape;771;p70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72" name="Google Shape;772;p70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70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android:debuggable='true' en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Sin obfuscación de código (ProGuard/R8 desactivado)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Sin anti-tampering (detección de repackaging)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Sin root/jailbreak detection (o detección bypasseable)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Frida/Magisk detection ausente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Symbols y debug info no eliminados del binario</a:t>
            </a:r>
            <a:endParaRPr/>
          </a:p>
        </p:txBody>
      </p:sp>
      <p:sp>
        <p:nvSpPr>
          <p:cNvPr id="774" name="Google Shape;774;p70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grep debuggable AndroidManifest.xml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jadx: ¿nombres de clase/método legibles? (sin obfuscación)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strings app.apk | grep -i 'frida|xposed|magisk'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jdwp (lista PIDs debuggeables)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jdb -connect com.sun.jdi.SocketAttach:port=8700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nm binary | grep -c '' (cantidad de símbolos)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M8 · Security Misconfiguration</a:t>
            </a:r>
            <a:endParaRPr/>
          </a:p>
        </p:txBody>
      </p:sp>
      <p:sp>
        <p:nvSpPr>
          <p:cNvPr id="780" name="Google Shape;780;p71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82" name="Google Shape;782;p71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83" name="Google Shape;783;p71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71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Componentes exported sin permiso de protección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allowBackup=true con datos sensibles en SharedPrefs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WebView con setAllowFileAccess(true) + JS habilitado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Firebase / backend con reglas permisivas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Endpoints de debug/admin activos en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Permisos excesivos declarados pero no necesarios</a:t>
            </a:r>
            <a:endParaRPr/>
          </a:p>
        </p:txBody>
      </p:sp>
      <p:sp>
        <p:nvSpPr>
          <p:cNvPr id="785" name="Google Shape;785;p71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MobSF → Manifest Analysis → exported components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Drozer: run app.package.attacksurface pkg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backup -noapk pkg → abe.jar → leer SharedPrefs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Burp: buscar endpoints /debug, /admin, /healthz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Google Dork: site:firebase.io inurl:pkg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drozer: run scanner.misc.checkjavascriptbridge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M9 · Insecure Data Storage</a:t>
            </a:r>
            <a:endParaRPr/>
          </a:p>
        </p:txBody>
      </p:sp>
      <p:sp>
        <p:nvSpPr>
          <p:cNvPr id="791" name="Google Shape;791;p7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7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793" name="Google Shape;793;p72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794" name="Google Shape;794;p72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Tokens/contraseñas en SharedPreferences / NSUserDefaults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SQLite sin cifrar con datos financieros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Archivos de texto plano con credenciales en filesDir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External storage accesible sin permiso desde otras apps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Keychain con kSecAttrAccessibleAlways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Room / Core Data sin cifrado para datos sensibles</a:t>
            </a:r>
            <a:endParaRPr/>
          </a:p>
        </p:txBody>
      </p:sp>
      <p:sp>
        <p:nvSpPr>
          <p:cNvPr id="796" name="Google Shape;796;p72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run-as pkg cat shared_prefs/*.xml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run-as pkg sqlite3 databases/*.db .dump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adb shell run-as pkg cat files/*.txt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find /sdcard/ -name '*.db' -o -name '*.xml' | adb shell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Objection: sqlite connect databases/*.db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iOS: idevicebackup2 → buscar .plist / .sqlite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M10 · Insufficient Cryptography</a:t>
            </a:r>
            <a:endParaRPr/>
          </a:p>
        </p:txBody>
      </p:sp>
      <p:sp>
        <p:nvSpPr>
          <p:cNvPr id="802" name="Google Shape;802;p73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/>
          </a:p>
        </p:txBody>
      </p:sp>
      <p:sp>
        <p:nvSpPr>
          <p:cNvPr id="804" name="Google Shape;804;p73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Cómo detectarlo</a:t>
            </a:r>
            <a:endParaRPr/>
          </a:p>
        </p:txBody>
      </p:sp>
      <p:sp>
        <p:nvSpPr>
          <p:cNvPr id="805" name="Google Shape;805;p73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457200" y="1783080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MD5 / SHA1 para hashing de contraseñas (sin salt)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AES/ECB mode (determinista, no IND-CPA)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IV fijo o estático (CBC/GCM sin nonce aleatorio)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Clave AES hardcoded en el código fuente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Uso de Random() en lugar de SecureRandom()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Base64 como 'cifrado' (solo encoding)</a:t>
            </a:r>
            <a:endParaRPr/>
          </a:p>
        </p:txBody>
      </p:sp>
      <p:sp>
        <p:nvSpPr>
          <p:cNvPr id="807" name="Google Shape;807;p73"/>
          <p:cNvSpPr txBox="1"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grep -r 'MD5|DES|ECB|RC4|SHA1' jadx_output/ -i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new SecretKeySpec() con clave literal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new IvParameterSpec(new byte[16]) (IV ceros)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Buscar Cipher.getInstance('AES') sin modo explícito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hashcat en hashes MD5 extraídos de la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python3: AES.new(key, AES.MODE_ECB).decrypt(ct)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4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814" name="Google Shape;814;p74"/>
          <p:cNvSpPr txBox="1"/>
          <p:nvPr/>
        </p:nvSpPr>
        <p:spPr>
          <a:xfrm>
            <a:off x="4193890" y="2505955"/>
            <a:ext cx="749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Protecciones y Mitigaciones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Gestión de Credenciales y Secretos</a:t>
            </a:r>
            <a:endParaRPr/>
          </a:p>
        </p:txBody>
      </p:sp>
      <p:sp>
        <p:nvSpPr>
          <p:cNvPr id="820" name="Google Shape;820;p7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7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Nunca hardcodear credenciales, tokens o API keys en el código fuente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Android Keystore / iOS Keychain para cualquier secreto en runtime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Obtener tokens dinámicamente desde el backend, no embebidos en el build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Eliminar todo Log.d/Log.i/NSLog con datos sensibles antes de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Escaneo de secretos en CI/CD: gitleaks, truffleHog, detect-secrets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Rotar cualquier credencial que se haya expuesto en un repositorio público</a:t>
            </a:r>
            <a:endParaRPr/>
          </a:p>
        </p:txBody>
      </p:sp>
      <p:sp>
        <p:nvSpPr>
          <p:cNvPr id="822" name="Google Shape;822;p75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Supply Chain Security</a:t>
            </a:r>
            <a:endParaRPr/>
          </a:p>
        </p:txBody>
      </p:sp>
      <p:sp>
        <p:nvSpPr>
          <p:cNvPr id="828" name="Google Shape;828;p7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7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Fijar versiones exactas de dependencias (lockfiles: package-lock.json, Podfile.lock)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Integrar OWASP Dependency-Check / Snyk / Dependabot en el pipeline CI/CD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Verificar firma e integridad de cualquier SDK de partner antes de integrarlo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Software Bill of Materials (SBOM) para trazabilidad de componentes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Code signing estricto + verificación de certificado en actualizaciones OTA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Política de actualización rápida cuando se publica un CVE crítico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Autenticación y Autorización</a:t>
            </a:r>
            <a:endParaRPr/>
          </a:p>
        </p:txBody>
      </p:sp>
      <p:sp>
        <p:nvSpPr>
          <p:cNvPr id="835" name="Google Shape;835;p7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Toda decisión de autorización debe validarse en el servidor, nunca solo en cliente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Verificar firma y expiración de JWT en cada request (nunca alg:none)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Invalidar tokens en el servidor al hacer logout, no solo borrarlos localmente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Biometría como factor adicional, nunca como único mecanismo sin fallback seguro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Componentes administrativos nunca exported=true sin permiso signature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Rate limiting y MFA en endpoints de autenticación sensibles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Validación de Entrada / Salida</a:t>
            </a:r>
            <a:endParaRPr/>
          </a:p>
        </p:txBody>
      </p:sp>
      <p:sp>
        <p:nvSpPr>
          <p:cNvPr id="842" name="Google Shape;842;p7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siempre queries parametrizadas / prepared statements, nunca concatenación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Sanitizar y escapar toda entrada antes de renderizarla en un WebView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Deshabilitar JavaScript en WebView si no es estrictamente necesario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Validar y normalizar rutas de archivo para evitar path traversal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Validar el host y esquema completo de cualquier deep link antes de navegar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Content Security Policy (CSP) en contenido web embebido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SSL/TLS y Certificate Pinning</a:t>
            </a:r>
            <a:endParaRPr/>
          </a:p>
        </p:txBody>
      </p:sp>
      <p:sp>
        <p:nvSpPr>
          <p:cNvPr id="849" name="Google Shape;849;p7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7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Forzar HTTPS/TLS 1.2+ en toda comunicación, deshabilitar cleartext traffic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network_security_config.xml (Android) sin excepciones de cleartext por dominio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ATS (App Transport Security) estricto en iOS — sin NSAllowsArbitraryLoads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Certificate pinning obligatorio en apps de alto riesgo (banking, salud, wallets)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Pinning por hash de clave pública (SPKI), no por certificado completo — sobrevive renovación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Nunca implementar un TrustManager o HostnameVerifier que acepte todo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Renovar certificados antes de expirar y monitorear vencimientos en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Múltiples pines de respaldo (backup pins) para evitar bloqueos por rotación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Detección de bypass de pinning (hooking activo) como capa adicional de RASP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Privacidad y Datos Personales (PII)</a:t>
            </a:r>
            <a:endParaRPr/>
          </a:p>
        </p:txBody>
      </p:sp>
      <p:sp>
        <p:nvSpPr>
          <p:cNvPr id="856" name="Google Shape;856;p8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Cifrar PII en reposo usando Keystore/Keychain, nunca SharedPrefs/NSUserDefaults planos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Excluir datos sensibles de los logs — filtros de logging en build de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FLAG_SECURE (Android) / preventScreenCapture (iOS) en pantallas con PII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Auditar y minimizar SDKs de analytics de terceros (data minimization)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Consentimiento explícito y cumplimiento GDPR/CCPA para datos personales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Limpiar el portapapeles automáticamente tras copiar datos sensibles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Binary Hardening (ofuscación y anti-tampering)</a:t>
            </a:r>
            <a:endParaRPr/>
          </a:p>
        </p:txBody>
      </p:sp>
      <p:sp>
        <p:nvSpPr>
          <p:cNvPr id="863" name="Google Shape;863;p8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81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android:debuggable siempre 'false' y símbolos removidos en el build de release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Ofuscación con R8/ProGuard (Android) y bitcode/strip de símbolos (iOS)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Anti-tampering: verificar firma/hash del APK/IPA en tiempo de ejecución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Detección de hooking activo (Frida/Xposed) como capa adicional de RASP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Nota: root/jailbreak detection se cubre en su propia diapositiva dedicada por plataforma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8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Configuración Segura</a:t>
            </a:r>
            <a:endParaRPr/>
          </a:p>
        </p:txBody>
      </p:sp>
      <p:sp>
        <p:nvSpPr>
          <p:cNvPr id="870" name="Google Shape;870;p82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82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allowBackup='false' si la app almacena cualquier dato sensible localmente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exported='false' por defecto en todos los componentes salvo necesidad explícita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Deshabilitar setAllowFileAccess/setAllowUniversalAccessFromFileURLs en WebView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Reglas de Firebase/backend restrictivas (auth requerida, least privilege)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Eliminar endpoints de debug/admin antes de publicar en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Revisar permisos declarados vs. permisos realmente usados (least privilege)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Almacenamiento Seguro de Datos</a:t>
            </a:r>
            <a:endParaRPr/>
          </a:p>
        </p:txBody>
      </p:sp>
      <p:sp>
        <p:nvSpPr>
          <p:cNvPr id="877" name="Google Shape;877;p8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8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Nunca almacenar tokens/contraseñas en SharedPreferences/NSUserDefaults planos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Android Keystore / iOS Keychain (kSecAttrAccessibleWhenUnlocked) para secretos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Cifrar bases de datos locales con SQLCipher o Realm con clave de cifrado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EncryptedSharedPreferences (Jetpack Security) en vez del wrapper plano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No depender de external storage para datos sensibles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Excluir contenedores de datos sensibles del backup automático (allowBackup=false)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Criptografía Segura</a:t>
            </a:r>
            <a:endParaRPr/>
          </a:p>
        </p:txBody>
      </p:sp>
      <p:sp>
        <p:nvSpPr>
          <p:cNvPr id="884" name="Google Shape;884;p8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84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bcrypt/scrypt/Argon2 para hashing de contraseñas, nunca MD5/SHA1 solo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AES en modo GCM (autenticado) en vez de ECB, con IV/nonce aleatorio por operación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Nunca hardcodear claves de cifrado — derivarlas o guardarlas en Keystore/Keychain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• Usar SecureRandom (Java) / SecRandomCopyBytes (iOS), nunca Random() genérico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Revisión periódica de algoritmos contra recomendaciones NIST/OWASP vigentes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• Nunca usar Base64/XOR como sustituto de cifrado real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Protección — Detección de Root, Jailbreak y Emuladores (resumen)</a:t>
            </a:r>
            <a:endParaRPr/>
          </a:p>
        </p:txBody>
      </p:sp>
      <p:sp>
        <p:nvSpPr>
          <p:cNvPr id="891" name="Google Shape;891;p8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8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Esta categoría se cubrió en detalle en cada módulo correspondiente, sin mezclar temas: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Root Detection Android → módulo 01 (RootBeer + Play Integrity API)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Jailbreak Detection iOS → módulo 02 (IOSSecuritySuite + App Attest/DeviceCheck)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Root/Jailbreak en cross-platform → módulo 03 (una librería dedicada por framework)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Detección de emuladores → módulo 03 (complemento independiente al root/jailbreak)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Regla general para las tres categorías: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      ◦ Nunca combinar la lógica de detección de root, jailbreak y emulador en un solo check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Cada categoría debe poder auditarse y actualizarse de forma independiente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Todas requieren verificación server-side como respaldo (Play Integrity / App Attest)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6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86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899" name="Google Shape;899;p86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MASVS</a:t>
            </a:r>
            <a:endParaRPr/>
          </a:p>
        </p:txBody>
      </p:sp>
      <p:sp>
        <p:nvSpPr>
          <p:cNvPr id="900" name="Google Shape;900;p86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 Application Security Verification Standard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¿Qué es el MASVS?</a:t>
            </a:r>
            <a:endParaRPr/>
          </a:p>
        </p:txBody>
      </p:sp>
      <p:sp>
        <p:nvSpPr>
          <p:cNvPr id="906" name="Google Shape;906;p8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8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Estándar de verificación de seguridad para aplicaciones móviles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Publicado por OWASP — github.com/OWASP/owasp-masvs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Define requisitos de seguridad en 8 categorías (controls)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Niveles de verificación: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L1 — Seguridad estándar: requisitos básicos aplicables a cualquier app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L2 — Defensa en profundidad: para apps con datos sensibles (banking, health)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  — Resiliencia: protecciones contra ingeniería inversa y tampering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Uso en la industria: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Base para auditorías de seguridad mobile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Criterio de aceptación en contratos de desarrollo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Referencia para equipos de desarrollo (secure coding)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Complementa el MASTG (que describe cómo verificar cada control)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8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MASVS-STORAGE — Almacenamiento seguro</a:t>
            </a:r>
            <a:endParaRPr/>
          </a:p>
        </p:txBody>
      </p:sp>
      <p:sp>
        <p:nvSpPr>
          <p:cNvPr id="913" name="Google Shape;913;p88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88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MASVS-STORAGE-1: No almacenar datos sensibles en logs del sistema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Log.d(TAG, 'token=' + authToken) 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MASVS-STORAGE-2: No almacenar credenciales en mecanismos débiles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SharedPreferences sin cifrar para contraseñas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MASVS-STORAGE-3: No exponer datos sensibles en mecanismos IPC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ContentProvider exported=true con datos privados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MASVS-STORAGE-4: No incluir datos sensibles en backups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allowBackup=true + token en SharedPrefs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MASVS-STORAGE-5: No exponer datos sensibles vía UI (screenshots)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FLAG_SECURE en Window para prevenir capturas ← mitigación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Cumplimiento L2: cifrar base de datos SQLite (SQLCipher)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Cumplimiento L2: usar EncryptedSharedPreferences de Jetpack Security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MASVS-CRYPTO — Criptografía robusta</a:t>
            </a:r>
            <a:endParaRPr/>
          </a:p>
        </p:txBody>
      </p:sp>
      <p:sp>
        <p:nvSpPr>
          <p:cNvPr id="920" name="Google Shape;920;p8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8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MASVS-CRYPTO-1: No usar criptografía débil o broken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MD5, SHA1, DES, RC4, AES/ECB — todos fallan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MASVS-CRYPTO-2: No hardcodear claves criptográficas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static final String KEY = 'VelionKey2026'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MASVS-CRYPTO-3: Gestión correcta de material criptográfico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Usar Android Keystore / iOS Secure Enclave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Rotar claves periódicamente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MASVS-CRYPTO-4: No usar valores aleatorios predecibles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new Random() para generar nonces ← FALLA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new SecureRandom() ← correcto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Parámetros correctos para apps de alto valor: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AES-256-GCM con IV/nonce aleatorio de 12 bytes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Argon2id / PBKDF2 (100k+ iteraciones) para hashing de contraseñas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MASVS-AUTH — Autenticación y autorización</a:t>
            </a:r>
            <a:endParaRPr/>
          </a:p>
        </p:txBody>
      </p:sp>
      <p:sp>
        <p:nvSpPr>
          <p:cNvPr id="927" name="Google Shape;927;p9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9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MASVS-AUTH-1: Autenticación remota, no solo local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Logout debe invalidar el token en el servidor, no solo localmente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MASVS-AUTH-2: Autorización basada en servidor para recursos sensibles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El rol no puede venir del cliente sin firma del servidor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MASVS-AUTH-3: Reautenticación para operaciones sensibles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Transferencias &gt; X monto deben pedir PIN/biometría otra vez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MASVS-AUTH-4: Autenticación biométrica correctamente implementada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BiometricPrompt con CryptoObject (clave en Keystore)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Fallback a PIN del sistema, NO a contraseña de la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MASVS-AUTH-5: Sin mecanismos de autenticación personalizados débiles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Usar tokens firmados (JWT con RS256/ES256, no HS256 con clave hardcoded)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Implementar PKCE para OAuth 2.0 en apps móviles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MASVS-NETWORK — Comunicación segura</a:t>
            </a:r>
            <a:endParaRPr/>
          </a:p>
        </p:txBody>
      </p:sp>
      <p:sp>
        <p:nvSpPr>
          <p:cNvPr id="934" name="Google Shape;934;p9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91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MASVS-NETWORK-1: Toda comunicación sobre TLS 1.2+ por defecto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usesCleartextTraffic=true / NSAllowsArbitraryLoads ← FALLA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MASVS-NETWORK-2: Validación de certificado del servidor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TrustManager que no valida ← FALLA crítica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      ◦ HostnameVerifier que siempre devuelve true ← FALLA crítica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MASVS-NETWORK-3: L2 — Certificate / Public Key Pinning para apps de alto riesgo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NetworkSecurityConfig con &lt;pin-set&gt; en Android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TrustKit o NSURLSession con pinning en iOS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MASVS-NETWORK-4: Sin dependencia en canales de comunicación no seguros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Bluetooth / NFC: verificar autenticación del canal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WebSocket: mismo estándar TLS que HTTPS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MASVS-PLATFORM, CODE, RESILIENCE y PRIVACY</a:t>
            </a:r>
            <a:endParaRPr/>
          </a:p>
        </p:txBody>
      </p:sp>
      <p:sp>
        <p:nvSpPr>
          <p:cNvPr id="941" name="Google Shape;941;p92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92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MASVS-PLATFORM — Interacción con la plataforma: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No exportar componentes sin necesidad (exported=false por defecto desde API 31)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WebView: deshabilitar JS si no es necesario, restringir file access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Validar deep links (autoVerify=true + app signing en Google Play)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MASVS-CODE — Calidad del código: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Sin vulnerabilidades en librerías de terceros (SCA)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Sin debug code en producción, manejo de excepciones sin exponer stack traces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MASVS-RESILIENCE — Protecciones binarias: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Root/jailbreak detection, anti-tampering, obfuscación, anti-debug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Play Integrity API (Android) para verificar integridad del dispositivo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MASVS-PRIVACY — Privacidad: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Mínima recolección de datos (data minimization)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Consentimiento explícito para tracking / analytics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Cumplimiento GDPR / CCPA / LGPD según jurisdicción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93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949" name="Google Shape;949;p93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MASTG</a:t>
            </a:r>
            <a:endParaRPr/>
          </a:p>
        </p:txBody>
      </p:sp>
      <p:sp>
        <p:nvSpPr>
          <p:cNvPr id="950" name="Google Shape;950;p93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 Application Security Testing Guide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¿Qué es el MASTG?</a:t>
            </a:r>
            <a:endParaRPr/>
          </a:p>
        </p:txBody>
      </p:sp>
      <p:sp>
        <p:nvSpPr>
          <p:cNvPr id="956" name="Google Shape;956;p9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94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Guía de pruebas de seguridad para aplicaciones móviles (OWASP)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github.com/OWASP/owasp-mastg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Complementa el MASVS: describe CÓMO verificar cada control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Estructura: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General — metodología, entorno, análisis estático/dinámico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 Testing Guide — pruebas específicas para Android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iOS Testing Guide — pruebas específicas para iOS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Casos de prueba (MASTG-TEST) mapeados a controles MASVS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Ejemplo: MASTG-TEST-0001 → verifica MASVS-STORAGE-1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Tipos de prueba: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SAST — Static Application Security Testing (análisis sin ejecutar)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DAST — Dynamic Application Security Testing (análisis en ejecución)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IAST — Instrumentación durante las pruebas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9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Metodología MASTG — Proceso de auditoría</a:t>
            </a:r>
            <a:endParaRPr/>
          </a:p>
        </p:txBody>
      </p:sp>
      <p:sp>
        <p:nvSpPr>
          <p:cNvPr id="963" name="Google Shape;963;p9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9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1. Recopilación de información: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Arquitectura de la app, tecnologías, datos que maneja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Surfaces de ataque: componentes exportados, deep links, API endpoints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2. Análisis estático: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Descompilar APK/IPA y revisar código fuente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MobSF, jadx, apktool, Semgrep mobile rules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3. Análisis dinámico: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Interceptar tráfico, manipular Intents, hooking con Frida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4. Pruebas de cada categoría MASVS: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Seguir los MASTG-TEST correspondientes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5. Explotación y prueba de concepto: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Demostrar impacto real de cada hallazgo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6. Reporte: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Hallazgos con CVSS, referencia MASVS, PoC y remediación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MASTG — Pruebas de almacenamiento (ejemplos)</a:t>
            </a:r>
            <a:endParaRPr/>
          </a:p>
        </p:txBody>
      </p:sp>
      <p:sp>
        <p:nvSpPr>
          <p:cNvPr id="970" name="Google Shape;970;p9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9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MASTG-TEST-0001 — Testing Local Storage for Sensitive Data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run-as pkg cat shared_prefs/*.xml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shell run-as pkg sqlite3 databases/*.db .dump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MASTG-TEST-0002 — Testing Logs for Sensitive Data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logcat | grep -iE 'password|token|key|card'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MASTG-TEST-0003 — Testing Backups for Sensitive Data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backup -noapk pkg; abe.jar unpack backup.ab backup.tar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MASTG-TEST-0004 — Testing for Sensitive Data in the Keyboard Cache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Verificar inputType en layouts XML (textPassword vs text)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MASTG-TEST-0005 — Testing Memory for Sensitive Data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Objection: memory search --string 'password'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MASTG-TEST-0006 — Testing the Device-Access-Security Policy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Verificar que la app requiere pantalla de bloqueo configurada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MASTG — Pruebas de red y criptografía (ejemplos)</a:t>
            </a:r>
            <a:endParaRPr/>
          </a:p>
        </p:txBody>
      </p:sp>
      <p:sp>
        <p:nvSpPr>
          <p:cNvPr id="977" name="Google Shape;977;p9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MASTG-TEST-0019 — Testing Data Encryption on the Network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Burp Suite / mitmproxy: ¿hay HTTP en el tráfico?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MASTG-TEST-0020 — Testing TLS Settings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testssl.sh target.com:443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MASTG-TEST-0021 — Testing for Certificate Verification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Instalar certificado Burp y verificar si la app falla o no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MASTG-TEST-0022 — Testing Certificate Pinning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Objection: android sslpinning disable (si el pinning cae = mal implementado)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MASTG-TEST-0025 — Testing for Broken Cryptography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jadx: grep -r 'MD5|ECB|DES|RC4' 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MASTG-TEST-0026 — Testing Random Number Generation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jadx: buscar 'new Random(' vs 'new SecureRandom('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MASTG-TEST-0027 — Testing Key Management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jadx: buscar SecretKeySpec con clave literal en el código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8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985" name="Google Shape;985;p98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MASWE</a:t>
            </a:r>
            <a:endParaRPr/>
          </a:p>
        </p:txBody>
      </p:sp>
      <p:sp>
        <p:nvSpPr>
          <p:cNvPr id="986" name="Google Shape;986;p98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 Application Security Weakness Enumeration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¿Qué es el MASWE?</a:t>
            </a:r>
            <a:endParaRPr/>
          </a:p>
        </p:txBody>
      </p:sp>
      <p:sp>
        <p:nvSpPr>
          <p:cNvPr id="992" name="Google Shape;992;p9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9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Mobile Application Security Weakness Enumeration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Nuevo componente del ecosistema OWASP MAS (2023+)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github.com/OWASP/owasp-maswe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Catálogo de debilidades concretas, análogo a CWE pero para mobile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Cada entrada MASWE describe: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Una debilidad específica (no un control general)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Plataforma afectada (Android / iOS / ambas)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Tipo de prueba (SAST / DAST / IAST)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Mapeo a MASVS y MASTG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Relación entre estándares OWASP MAS: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MASVS → ¿Qué debe cumplir la app? (controles)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MASTG → ¿Cómo verificarlo? (procedimientos)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MASWE → ¿Cuáles son las debilidades concretas? (taxonomía)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0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MASWE — Ejemplos de debilidades</a:t>
            </a:r>
            <a:endParaRPr/>
          </a:p>
        </p:txBody>
      </p:sp>
      <p:sp>
        <p:nvSpPr>
          <p:cNvPr id="999" name="Google Shape;999;p100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00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MASWE-0001 — Cleartext Storage of Sensitive Data in Shared Preferences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Platform: Android | Type: SAST/DAST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 a: MASVS-STORAGE-1 | MASTG-TEST-0001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MASWE-0015 — Disabled TLS Certificate Validation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Platform: Android/iOS | Type: SAST/DAST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 a: MASVS-NETWORK-2 | MASTG-TEST-0021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MASWE-0035 — Use of Hardcoded Cryptographic Key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Platform: Android/iOS | Type: SAST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 a: MASVS-CRYPTO-2 | MASTG-TEST-0027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MASWE-0050 — Exported Android Component without Permission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Platform: Android | Type: SAST/DAST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 a: MASVS-PLATFORM-1 | MASTG-TEST-0038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MASWE-0062 — Insufficient Key Length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Platform: Android/iOS | Type: SAST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 a: MASVS-CRYPTO-1 | MASTG-TEST-0025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0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Ecosistema OWASP MAS — Resumen integrado</a:t>
            </a:r>
            <a:endParaRPr/>
          </a:p>
        </p:txBody>
      </p:sp>
      <p:sp>
        <p:nvSpPr>
          <p:cNvPr id="1006" name="Google Shape;1006;p101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01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El flujo de una auditoría con el ecosistema completo: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1. Tomar el MASVS como referencia de requisitos (qué auditar)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Ej: MASVS-STORAGE-1 — no almacenar datos sensibles en logs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2. Consultar el MASTG para saber cómo probarlo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Ej: MASTG-TEST-0002 → adb logcat | grep -iE 'token|pass'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3. Si hay hallazgo, referenciarlo con MASWE para la debilidad exacta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Ej: MASWE-0006 — Sensitive Data in System Logs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4. Reportar con triple referencia: MASVS + MASTG + MASWE + CVSS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Ventajas de este enfoque: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Reportes consistentes y comparables entre equipos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Facilita comunicación con desarrollo (controles concretos, no genéricos)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Alineación con regulaciones: PCI-DSS, HIPAA, ISO 27001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Automatización posible en CI/CD con MASTG tests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02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14" name="Google Shape;1014;p102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Lab Práctico</a:t>
            </a:r>
            <a:endParaRPr/>
          </a:p>
        </p:txBody>
      </p:sp>
      <p:sp>
        <p:nvSpPr>
          <p:cNvPr id="1015" name="Google Shape;1015;p102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Velion Pay Lab — DVMA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0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Velion Pay Lab — Aplicación vulnerable</a:t>
            </a:r>
            <a:endParaRPr/>
          </a:p>
        </p:txBody>
      </p:sp>
      <p:sp>
        <p:nvSpPr>
          <p:cNvPr id="1021" name="Google Shape;1021;p103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03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Aplicación fintech ficticia diseñada para práctica de pentesting mobile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10 módulos, uno por cada categoría OWASP Mobile Top 10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Cada módulo tiene 3 escenarios con vulnerabilidades reales de negocio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Las vulnerabilidades emergen del flujo del producto, no son artificiales: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M1: credenciales hardcoded 'para no hacer round-trip en el primer launch'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M3: rol PERSONAL con acceso de OPS 'se dejó para testing'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M5: TLS deshabilitado 'el partner usaba certificado autofirmado en staging'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M9: SQL injection 'la ORM no estaba integrada en el módulo offline'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Instalación: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Compilar con Android Studio e instalar en emulador API 26+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      ◦ adb install velion-pay-debug.apk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Consultar Solution.md para comandos exactos por escenario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Lab — Retos por módulo</a:t>
            </a:r>
            <a:endParaRPr/>
          </a:p>
        </p:txBody>
      </p:sp>
      <p:sp>
        <p:nvSpPr>
          <p:cNvPr id="1028" name="Google Shape;1028;p10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04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M1: encuentra las 3 credenciales con jadx + adb logcat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M2: explica por qué el sha256 de CDN es insuficiente como verificación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M3: escala de rol PERSONAL a ADMIN con un solo comando adb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M4: ejecuta XSS en el WebView de búsqueda con un Intent desde adb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M5: intercepta el Bearer token enviado por HTTP con Burp Suite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M6: extrae el PII completo del archivo support_draft.xml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M7: adjunta un debugger JDB al proceso de la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M8: abre AdminActivity desde adb sin haber hecho login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M9: extrae todas las transacciones con SQL injection desde adb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M10: descifra el payload AES/ECB con Python usando la clave del APK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05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Metodología de auditoría — Resumen del curso</a:t>
            </a:r>
            <a:endParaRPr/>
          </a:p>
        </p:txBody>
      </p:sp>
      <p:sp>
        <p:nvSpPr>
          <p:cNvPr id="1035" name="Google Shape;1035;p10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0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Fase 1 — Reconocimiento: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Extraer APK, descompilar con jadx, revisar manifest con MobSF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Identificar componentes exportados, deep links, surface de ataque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Fase 2 — Análisis estático (SAST):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Grep de credenciales, algoritmos débiles, SQL concatenado, URLs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Semgrep con ruleset mobile-security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Fase 3 — Análisis dinámico (DAST):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Burp Suite para tráfico de red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adb shell am start para probar componentes exportados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Frida / Objection para hooking y manipulación en runtime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Fase 4 — Explotación y documentación: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PoC concreto por hallazgo: screenshot, captura de tráfico, output de comando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Mapear a OWASP Top 10 + MASVS + MASWE + CVSS 4.0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Fase 5 — Reporte: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Severidad, impacto de negocio, remediación con código de ejemplo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6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Checklist final de protecciones antes de producción</a:t>
            </a:r>
            <a:endParaRPr/>
          </a:p>
        </p:txBody>
      </p:sp>
      <p:sp>
        <p:nvSpPr>
          <p:cNvPr id="1042" name="Google Shape;1042;p106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06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Almacenamiento: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Ningún secreto en SharedPreferences/NSUserDefaults/localStorage sin cifrar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Uso correcto de Keystore/Keychain en la tecnología usada (nativa o cross)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Binario: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debuggable=false, símbolos removidos, ofuscación aplicada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Root/jailbreak detection implementado en TODA plataforma del proyecto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Attestation server-side (Play Integrity / App Attest) integrado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Red: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TLS forzado, certificate pinning en apps de alto riesgo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Configuración: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Componentes exported solo cuando es necesario, con permisos adecuados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Endpoints de debug/admin eliminados del build de producción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Este checklist resume las mitigaciones vistas en cada módulo del curso</a:t>
            </a:r>
            <a:endParaRPr/>
          </a:p>
        </p:txBody>
      </p:sp>
      <p:sp>
        <p:nvSpPr>
          <p:cNvPr id="1044" name="Google Shape;1044;p106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07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Recursos y próximos pasos</a:t>
            </a:r>
            <a:endParaRPr/>
          </a:p>
        </p:txBody>
      </p:sp>
      <p:sp>
        <p:nvSpPr>
          <p:cNvPr id="1050" name="Google Shape;1050;p107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07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Documentación oficial: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OWASP MAS: mas.owasp.org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MASVS: github.com/OWASP/owasp-masvs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MASTG: github.com/OWASP/owasp-mastg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MASWE: github.com/OWASP/owasp-maswe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Laboratorios prácticos: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DVIA (Damn Vulnerable iOS App) — para iOS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DVMA Velion Pay Lab — este curso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Android InsecureBankv2 — clásico de Android hacking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HackTheBox / TryHackMe — challenges mobile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Certificaciones relevantes: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eMAPT — eLearnSecurity Mobile Application Penetration Tester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GMOB — GIAC Mobile Device Security Analyst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Herramientas a profundizar: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Frida Codeshare — scripts de la comunidad (codeshare.frida.re)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Semgrep mobile rules — análisis estático automatizado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08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08"/>
          <p:cNvSpPr txBox="1"/>
          <p:nvPr/>
        </p:nvSpPr>
        <p:spPr>
          <a:xfrm>
            <a:off x="365760" y="22860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58" name="Google Shape;1058;p108"/>
          <p:cNvSpPr txBox="1"/>
          <p:nvPr/>
        </p:nvSpPr>
        <p:spPr>
          <a:xfrm>
            <a:off x="4206240" y="2011680"/>
            <a:ext cx="74980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Frida</a:t>
            </a:r>
            <a:endParaRPr/>
          </a:p>
        </p:txBody>
      </p:sp>
      <p:sp>
        <p:nvSpPr>
          <p:cNvPr id="1059" name="Google Shape;1059;p108"/>
          <p:cNvSpPr txBox="1"/>
          <p:nvPr/>
        </p:nvSpPr>
        <p:spPr>
          <a:xfrm>
            <a:off x="4206240" y="3566160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Instrumentación Dinámica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9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¿Qué es Frida?</a:t>
            </a:r>
            <a:endParaRPr/>
          </a:p>
        </p:txBody>
      </p:sp>
      <p:sp>
        <p:nvSpPr>
          <p:cNvPr id="1065" name="Google Shape;1065;p109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09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Toolkit de instrumentación dinámica (Dynamic Binary Instrumentation)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Permite inyectar JavaScript en un proceso en ejecución y modificar su comportamiento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Funciona sobre Android (Java/Kotlin/nativo) e iOS (Objective-C/Swift/nativo)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Componentes principales: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frida-server — daemon que corre en el dispositivo (requiere root/jailbreak)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frida-tools — CLI en la máquina del analista (frida, frida-ps, frida-trace)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    ◦ Frida Gadget — alternativa embebida en la app, sin necesidad de root/jailbreak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Por qué se usa en pentesting mobile: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Bypass de protecciones en runtime sin modificar el binario en disco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Inspección de valores en memoria, argumentos y retornos de funciones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◦ Complementa (no reemplaza) el análisis estático con jadx/apktool/class-dump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0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Frida — Instalación y comandos básicos</a:t>
            </a:r>
            <a:endParaRPr/>
          </a:p>
        </p:txBody>
      </p:sp>
      <p:sp>
        <p:nvSpPr>
          <p:cNvPr id="1072" name="Google Shape;1072;p110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110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10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Instalar en la máquina del analista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frida-tools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Descargar frida-server (misma versión y arquitectura que frida-tools)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adb push frida-server /data/local/tmp/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adb shell chmod 755 /data/local/tmp/frida-server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adb shell /data/local/tmp/frida-server 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Listar procesos/apps en ejecución en el dispositivo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frida-ps -U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Adjuntar a una app ya en ejecución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frida -U -n com.velion.dvma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Lanzar la app y ejecutar un script desde el arranque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frida -U -f com.velion.dvma -l script.js --no-pause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# Trazar llamadas a una función específica sin escribir 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frida-trace -U -j "*!open*" com.velion.dvma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1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 1 — Hook básico en Android (Java)</a:t>
            </a:r>
            <a:endParaRPr/>
          </a:p>
        </p:txBody>
      </p:sp>
      <p:sp>
        <p:nvSpPr>
          <p:cNvPr id="1080" name="Google Shape;1080;p111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111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11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hook_onresume.js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Registra cada vez que una Activity pasa a primer plano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Java.perform(function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var Activity = Java.use("android.app.Activity");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Activity.onResume.implementation = function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console.log("[+] onResume: " + this.getClass().getName());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this.onResume();   // llamar a la implementación original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Ejecución: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frida -U -f com.velion.dvma -l hook_onresume.js --no-pause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1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 2 — Hook básico en iOS (Objective-C)</a:t>
            </a:r>
            <a:endParaRPr/>
          </a:p>
        </p:txBody>
      </p:sp>
      <p:sp>
        <p:nvSpPr>
          <p:cNvPr id="1088" name="Google Shape;1088;p11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12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12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hook_viewdidload.js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Registra cada vez que un ViewController aparece en pantalla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if (ObjC.available)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var className = "UIViewController";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var hook = ObjC.classes[className]["- viewDidLoad"];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Interceptor.attach(hook.implementation,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onEnter: function (args)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var self = new ObjC.Object(args[0]);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console.log("[+] viewDidLoad: " + self.$className);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console.log("Runtime Objective-C no disponible");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Ejecución: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frida -U -f com.velion.dvma -l hook_viewdidload.js --no-pause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13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 3 — Bypass de SSL Pinning (Android, OkHttp3)</a:t>
            </a:r>
            <a:endParaRPr/>
          </a:p>
        </p:txBody>
      </p:sp>
      <p:sp>
        <p:nvSpPr>
          <p:cNvPr id="1096" name="Google Shape;1096;p113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113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113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ssl_pinning_bypass.js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Verifica si el pinning está bien implementado: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si la app sigue funcionando con este script = pinning débil o ausente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Java.perform(function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try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var CertificatePinner = Java.use("okhttp3.CertificatePinner");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CertificatePinner.check.overload("java.lang.String",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"java.util.List").implementation = function (host, certs)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console.log("[!] Pinning bypassed para: " + host);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// no se llama a la implementación original -&gt; pinning omitido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 catch (e)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console.log("OkHttp3 CertificatePinner no encontrado");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Ejecución: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frida -U -f com.velion.dvma -l ssl_pinning_bypass.js --no-pause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Hallazgo si funciona: MASTG-TEST-0022 / M5 Insecure Communication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14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Ejemplo 4 — Bypass de Root Detection (Android)</a:t>
            </a:r>
            <a:endParaRPr/>
          </a:p>
        </p:txBody>
      </p:sp>
      <p:sp>
        <p:nvSpPr>
          <p:cNvPr id="1104" name="Google Shape;1104;p11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14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0D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14"/>
          <p:cNvSpPr txBox="1"/>
          <p:nvPr/>
        </p:nvSpPr>
        <p:spPr>
          <a:xfrm>
            <a:off x="594360" y="1344168"/>
            <a:ext cx="10972800" cy="4901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root_check_bypass.js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Fuerza a File.exists() a devolver false para rutas típicas de root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Java.perform(function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var File = Java.use("java.io.File");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File.exists.implementation = function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var path = this.getAbsolutePath();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(path.indexOf("su") !== -1 || path.indexOf("magisk") !== -1)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console.log("[!] Bloqueado check de root para: " + path);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false;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this.exists();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8C3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Ejecución: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frida -U -f com.velion.dvma -l root_check_bypass.js --no-pause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// Si el bypass funciona sin validación server-side: M7 Insufficient Binary Protections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5"/>
          <p:cNvSpPr txBox="1"/>
          <p:nvPr/>
        </p:nvSpPr>
        <p:spPr>
          <a:xfrm>
            <a:off x="457200" y="256032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Frida — Buenas prácticas</a:t>
            </a:r>
            <a:endParaRPr/>
          </a:p>
        </p:txBody>
      </p:sp>
      <p:sp>
        <p:nvSpPr>
          <p:cNvPr id="1112" name="Google Shape;1112;p115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1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C15E"/>
                </a:solidFill>
                <a:latin typeface="Calibri"/>
                <a:ea typeface="Calibri"/>
                <a:cs typeface="Calibri"/>
                <a:sym typeface="Calibri"/>
              </a:rPr>
              <a:t>• Usar Frida únicamente dentro del alcance autorizado de un engagement firmado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Documentar cada script usado como parte de la evidencia del hallazgo (PoC)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Preferir Objection quando el objetivo es explorar rápido sin escribir JS a mano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Escribir scripts propios cuando se necesita lógica específica de la app objetivo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8C379"/>
                </a:solidFill>
                <a:latin typeface="Calibri"/>
                <a:ea typeface="Calibri"/>
                <a:cs typeface="Calibri"/>
                <a:sym typeface="Calibri"/>
              </a:rPr>
              <a:t>• Frida Codeshare (codeshare.frida.re) — scripts de la comunidad para casos comunes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• Un hallazgo de bypass con Frida siempre debe verificarse también sin instrumentación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(para confirmar que la protección es insuficiente y no solo un falso positivo)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1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5D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116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55D6BE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/>
          </a:p>
        </p:txBody>
      </p:sp>
      <p:sp>
        <p:nvSpPr>
          <p:cNvPr id="1121" name="Google Shape;1121;p116"/>
          <p:cNvSpPr txBox="1"/>
          <p:nvPr/>
        </p:nvSpPr>
        <p:spPr>
          <a:xfrm>
            <a:off x="731520" y="35661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Preguntas, dudas y discusión</a:t>
            </a:r>
            <a:endParaRPr/>
          </a:p>
        </p:txBody>
      </p:sp>
      <p:sp>
        <p:nvSpPr>
          <p:cNvPr id="1122" name="Google Shape;1122;p116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 Hacking 101 · Velion Pay Lab · OWASP MAS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